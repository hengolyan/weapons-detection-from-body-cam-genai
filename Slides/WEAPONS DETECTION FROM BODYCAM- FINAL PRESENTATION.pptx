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64" r:id="rId4"/>
    <p:sldId id="258" r:id="rId5"/>
    <p:sldId id="260" r:id="rId6"/>
    <p:sldId id="266" r:id="rId7"/>
    <p:sldId id="265" r:id="rId8"/>
    <p:sldId id="267" r:id="rId9"/>
    <p:sldId id="261" r:id="rId10"/>
    <p:sldId id="263" r:id="rId11"/>
  </p:sldIdLst>
  <p:sldSz cx="18288000" cy="10287000"/>
  <p:notesSz cx="6858000" cy="9144000"/>
  <p:embeddedFontLst>
    <p:embeddedFont>
      <p:font typeface="Aptos Black" panose="020B0004020202020204" pitchFamily="34" charset="0"/>
      <p:bold r:id="rId13"/>
      <p:boldItalic r:id="rId14"/>
    </p:embeddedFont>
    <p:embeddedFont>
      <p:font typeface="Bricolage Grotesque Medium" panose="020B0604020202020204" charset="0"/>
      <p:regular r:id="rId15"/>
    </p:embeddedFont>
    <p:embeddedFont>
      <p:font typeface="Lato" panose="020F0502020204030203" pitchFamily="34"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9F99F880-73ED-43C7-9DC5-F3FE2FA9CB17}" type="datetimeFigureOut">
              <a:rPr lang="he-IL" smtClean="0"/>
              <a:t>כ"ח/טבת/תשפ"ו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FD69718-C3EA-4153-887A-0305FA83E052}" type="slidenum">
              <a:rPr lang="he-IL" smtClean="0"/>
              <a:t>‹#›</a:t>
            </a:fld>
            <a:endParaRPr lang="he-IL"/>
          </a:p>
        </p:txBody>
      </p:sp>
    </p:spTree>
    <p:extLst>
      <p:ext uri="{BB962C8B-B14F-4D97-AF65-F5344CB8AC3E}">
        <p14:creationId xmlns:p14="http://schemas.microsoft.com/office/powerpoint/2010/main" val="225581339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DFD69718-C3EA-4153-887A-0305FA83E052}" type="slidenum">
              <a:rPr lang="he-IL" smtClean="0"/>
              <a:t>3</a:t>
            </a:fld>
            <a:endParaRPr lang="he-IL"/>
          </a:p>
        </p:txBody>
      </p:sp>
    </p:spTree>
    <p:extLst>
      <p:ext uri="{BB962C8B-B14F-4D97-AF65-F5344CB8AC3E}">
        <p14:creationId xmlns:p14="http://schemas.microsoft.com/office/powerpoint/2010/main" val="341274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AutoShape 2"/>
          <p:cNvSpPr/>
          <p:nvPr/>
        </p:nvSpPr>
        <p:spPr>
          <a:xfrm>
            <a:off x="3119010" y="6161192"/>
            <a:ext cx="12046970" cy="0"/>
          </a:xfrm>
          <a:prstGeom prst="line">
            <a:avLst/>
          </a:prstGeom>
          <a:ln w="9525" cap="flat">
            <a:solidFill>
              <a:srgbClr val="FFFFFF"/>
            </a:solidFill>
            <a:prstDash val="solid"/>
            <a:headEnd type="none" w="sm" len="sm"/>
            <a:tailEnd type="none" w="sm" len="sm"/>
          </a:ln>
        </p:spPr>
        <p:txBody>
          <a:bodyPr/>
          <a:lstStyle/>
          <a:p>
            <a:endParaRPr lang="he-IL"/>
          </a:p>
        </p:txBody>
      </p:sp>
      <p:sp>
        <p:nvSpPr>
          <p:cNvPr id="3" name="Freeform 3"/>
          <p:cNvSpPr/>
          <p:nvPr/>
        </p:nvSpPr>
        <p:spPr>
          <a:xfrm>
            <a:off x="1028700" y="4976746"/>
            <a:ext cx="333507" cy="333507"/>
          </a:xfrm>
          <a:custGeom>
            <a:avLst/>
            <a:gdLst/>
            <a:ahLst/>
            <a:cxnLst/>
            <a:rect l="l" t="t" r="r" b="b"/>
            <a:pathLst>
              <a:path w="333507" h="333507">
                <a:moveTo>
                  <a:pt x="0" y="0"/>
                </a:moveTo>
                <a:lnTo>
                  <a:pt x="333507" y="0"/>
                </a:lnTo>
                <a:lnTo>
                  <a:pt x="333507" y="333508"/>
                </a:lnTo>
                <a:lnTo>
                  <a:pt x="0" y="333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4" name="Freeform 4"/>
          <p:cNvSpPr/>
          <p:nvPr/>
        </p:nvSpPr>
        <p:spPr>
          <a:xfrm>
            <a:off x="16922784" y="4976746"/>
            <a:ext cx="333507" cy="333507"/>
          </a:xfrm>
          <a:custGeom>
            <a:avLst/>
            <a:gdLst/>
            <a:ahLst/>
            <a:cxnLst/>
            <a:rect l="l" t="t" r="r" b="b"/>
            <a:pathLst>
              <a:path w="333507" h="333507">
                <a:moveTo>
                  <a:pt x="0" y="0"/>
                </a:moveTo>
                <a:lnTo>
                  <a:pt x="333507" y="0"/>
                </a:lnTo>
                <a:lnTo>
                  <a:pt x="333507" y="333508"/>
                </a:lnTo>
                <a:lnTo>
                  <a:pt x="0" y="3335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5" name="AutoShape 5"/>
          <p:cNvSpPr/>
          <p:nvPr/>
        </p:nvSpPr>
        <p:spPr>
          <a:xfrm>
            <a:off x="3120515" y="3457302"/>
            <a:ext cx="12046970" cy="0"/>
          </a:xfrm>
          <a:prstGeom prst="line">
            <a:avLst/>
          </a:prstGeom>
          <a:ln w="9525" cap="flat">
            <a:solidFill>
              <a:srgbClr val="FFFFFF"/>
            </a:solidFill>
            <a:prstDash val="solid"/>
            <a:headEnd type="none" w="sm" len="sm"/>
            <a:tailEnd type="none" w="sm" len="sm"/>
          </a:ln>
        </p:spPr>
        <p:txBody>
          <a:bodyPr/>
          <a:lstStyle/>
          <a:p>
            <a:endParaRPr lang="he-IL"/>
          </a:p>
        </p:txBody>
      </p:sp>
      <p:sp>
        <p:nvSpPr>
          <p:cNvPr id="6" name="TextBox 6"/>
          <p:cNvSpPr txBox="1"/>
          <p:nvPr/>
        </p:nvSpPr>
        <p:spPr>
          <a:xfrm>
            <a:off x="3791457" y="4004523"/>
            <a:ext cx="10702077" cy="1928220"/>
          </a:xfrm>
          <a:prstGeom prst="rect">
            <a:avLst/>
          </a:prstGeom>
        </p:spPr>
        <p:txBody>
          <a:bodyPr wrap="square" lIns="0" tIns="0" rIns="0" bIns="0" rtlCol="0" anchor="t">
            <a:spAutoFit/>
          </a:bodyPr>
          <a:lstStyle/>
          <a:p>
            <a:pPr algn="ctr">
              <a:lnSpc>
                <a:spcPts val="7281"/>
              </a:lnSpc>
            </a:pPr>
            <a:r>
              <a:rPr lang="en-US" sz="8565" b="1" spc="-453" dirty="0">
                <a:solidFill>
                  <a:srgbClr val="FFFFFF"/>
                </a:solidFill>
                <a:latin typeface="Aptos Black" panose="020F0502020204030204" pitchFamily="34" charset="0"/>
                <a:ea typeface="Bricolage Grotesque Medium"/>
                <a:cs typeface="Bricolage Grotesque Medium"/>
                <a:sym typeface="Bricolage Grotesque Medium"/>
              </a:rPr>
              <a:t>WEAPONS DETECTION FROM BODY-CAM</a:t>
            </a:r>
          </a:p>
        </p:txBody>
      </p:sp>
      <p:sp>
        <p:nvSpPr>
          <p:cNvPr id="7" name="TextBox 7"/>
          <p:cNvSpPr txBox="1"/>
          <p:nvPr/>
        </p:nvSpPr>
        <p:spPr>
          <a:xfrm>
            <a:off x="6547546" y="7128236"/>
            <a:ext cx="5189900" cy="194945"/>
          </a:xfrm>
          <a:prstGeom prst="rect">
            <a:avLst/>
          </a:prstGeom>
        </p:spPr>
        <p:txBody>
          <a:bodyPr lIns="0" tIns="0" rIns="0" bIns="0" rtlCol="0" anchor="t">
            <a:spAutoFit/>
          </a:bodyPr>
          <a:lstStyle/>
          <a:p>
            <a:pPr algn="ctr">
              <a:lnSpc>
                <a:spcPts val="1359"/>
              </a:lnSpc>
            </a:pPr>
            <a:r>
              <a:rPr lang="en-US" sz="1599" b="1" spc="-84" dirty="0">
                <a:solidFill>
                  <a:srgbClr val="FFFFFF"/>
                </a:solidFill>
                <a:latin typeface="Aptos Black" panose="020B0004020202020204" pitchFamily="34" charset="0"/>
                <a:ea typeface="Bricolage Grotesque Medium"/>
                <a:cs typeface="Bricolage Grotesque Medium"/>
                <a:sym typeface="Bricolage Grotesque Medium"/>
              </a:rPr>
              <a:t>GENERATIVE AI AND COMPUTER VISION, SEMSTER A</a:t>
            </a:r>
          </a:p>
        </p:txBody>
      </p:sp>
      <p:sp>
        <p:nvSpPr>
          <p:cNvPr id="8" name="Freeform 8"/>
          <p:cNvSpPr/>
          <p:nvPr/>
        </p:nvSpPr>
        <p:spPr>
          <a:xfrm rot="5400000">
            <a:off x="1028700" y="1028700"/>
            <a:ext cx="2975823" cy="2975823"/>
          </a:xfrm>
          <a:custGeom>
            <a:avLst/>
            <a:gdLst/>
            <a:ahLst/>
            <a:cxnLst/>
            <a:rect l="l" t="t" r="r" b="b"/>
            <a:pathLst>
              <a:path w="2975823" h="2975823">
                <a:moveTo>
                  <a:pt x="0" y="0"/>
                </a:moveTo>
                <a:lnTo>
                  <a:pt x="2975823" y="0"/>
                </a:lnTo>
                <a:lnTo>
                  <a:pt x="2975823" y="2975823"/>
                </a:lnTo>
                <a:lnTo>
                  <a:pt x="0" y="2975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9" name="Freeform 9"/>
          <p:cNvSpPr/>
          <p:nvPr/>
        </p:nvSpPr>
        <p:spPr>
          <a:xfrm>
            <a:off x="1028700" y="6282477"/>
            <a:ext cx="2975823" cy="2975823"/>
          </a:xfrm>
          <a:custGeom>
            <a:avLst/>
            <a:gdLst/>
            <a:ahLst/>
            <a:cxnLst/>
            <a:rect l="l" t="t" r="r" b="b"/>
            <a:pathLst>
              <a:path w="2975823" h="2975823">
                <a:moveTo>
                  <a:pt x="0" y="0"/>
                </a:moveTo>
                <a:lnTo>
                  <a:pt x="2975823" y="0"/>
                </a:lnTo>
                <a:lnTo>
                  <a:pt x="2975823" y="2975823"/>
                </a:lnTo>
                <a:lnTo>
                  <a:pt x="0" y="2975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10" name="Freeform 10"/>
          <p:cNvSpPr/>
          <p:nvPr/>
        </p:nvSpPr>
        <p:spPr>
          <a:xfrm rot="-5400000">
            <a:off x="14280469" y="6161192"/>
            <a:ext cx="2975823" cy="2975823"/>
          </a:xfrm>
          <a:custGeom>
            <a:avLst/>
            <a:gdLst/>
            <a:ahLst/>
            <a:cxnLst/>
            <a:rect l="l" t="t" r="r" b="b"/>
            <a:pathLst>
              <a:path w="2975823" h="2975823">
                <a:moveTo>
                  <a:pt x="0" y="0"/>
                </a:moveTo>
                <a:lnTo>
                  <a:pt x="2975822" y="0"/>
                </a:lnTo>
                <a:lnTo>
                  <a:pt x="2975822" y="2975823"/>
                </a:lnTo>
                <a:lnTo>
                  <a:pt x="0" y="2975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11" name="Freeform 11"/>
          <p:cNvSpPr/>
          <p:nvPr/>
        </p:nvSpPr>
        <p:spPr>
          <a:xfrm rot="-10800000">
            <a:off x="14280469" y="907415"/>
            <a:ext cx="2975823" cy="2975823"/>
          </a:xfrm>
          <a:custGeom>
            <a:avLst/>
            <a:gdLst/>
            <a:ahLst/>
            <a:cxnLst/>
            <a:rect l="l" t="t" r="r" b="b"/>
            <a:pathLst>
              <a:path w="2975823" h="2975823">
                <a:moveTo>
                  <a:pt x="0" y="0"/>
                </a:moveTo>
                <a:lnTo>
                  <a:pt x="2975822" y="0"/>
                </a:lnTo>
                <a:lnTo>
                  <a:pt x="2975822" y="2975823"/>
                </a:lnTo>
                <a:lnTo>
                  <a:pt x="0" y="2975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12" name="TextBox 12"/>
          <p:cNvSpPr txBox="1"/>
          <p:nvPr/>
        </p:nvSpPr>
        <p:spPr>
          <a:xfrm>
            <a:off x="4177753" y="6503195"/>
            <a:ext cx="9929485" cy="365123"/>
          </a:xfrm>
          <a:prstGeom prst="rect">
            <a:avLst/>
          </a:prstGeom>
        </p:spPr>
        <p:txBody>
          <a:bodyPr lIns="0" tIns="0" rIns="0" bIns="0" rtlCol="0" anchor="t">
            <a:spAutoFit/>
          </a:bodyPr>
          <a:lstStyle/>
          <a:p>
            <a:pPr algn="ctr">
              <a:lnSpc>
                <a:spcPts val="2975"/>
              </a:lnSpc>
              <a:spcBef>
                <a:spcPct val="0"/>
              </a:spcBef>
            </a:pPr>
            <a:r>
              <a:rPr lang="en-US" sz="2125" b="1" spc="-112" dirty="0">
                <a:solidFill>
                  <a:srgbClr val="FFFFFF"/>
                </a:solidFill>
                <a:latin typeface="Aptos Black" panose="020B0004020202020204" pitchFamily="34" charset="0"/>
                <a:ea typeface="Bricolage Grotesque Medium"/>
                <a:cs typeface="Bricolage Grotesque Medium"/>
                <a:sym typeface="Bricolage Grotesque Medium"/>
              </a:rPr>
              <a:t>HEN GOLYAN, AVIV HELLER, AFIK SUISSA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Freeform 2"/>
          <p:cNvSpPr/>
          <p:nvPr/>
        </p:nvSpPr>
        <p:spPr>
          <a:xfrm>
            <a:off x="17265245" y="1027954"/>
            <a:ext cx="333507" cy="333507"/>
          </a:xfrm>
          <a:custGeom>
            <a:avLst/>
            <a:gdLst/>
            <a:ahLst/>
            <a:cxnLst/>
            <a:rect l="l" t="t" r="r" b="b"/>
            <a:pathLst>
              <a:path w="333507" h="333507">
                <a:moveTo>
                  <a:pt x="0" y="0"/>
                </a:moveTo>
                <a:lnTo>
                  <a:pt x="333507" y="0"/>
                </a:lnTo>
                <a:lnTo>
                  <a:pt x="333507" y="333507"/>
                </a:lnTo>
                <a:lnTo>
                  <a:pt x="0" y="3335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3" name="Freeform 3"/>
          <p:cNvSpPr/>
          <p:nvPr/>
        </p:nvSpPr>
        <p:spPr>
          <a:xfrm>
            <a:off x="1028700" y="1028700"/>
            <a:ext cx="4246366" cy="2810322"/>
          </a:xfrm>
          <a:custGeom>
            <a:avLst/>
            <a:gdLst/>
            <a:ahLst/>
            <a:cxnLst/>
            <a:rect l="l" t="t" r="r" b="b"/>
            <a:pathLst>
              <a:path w="4246366" h="2810322">
                <a:moveTo>
                  <a:pt x="0" y="0"/>
                </a:moveTo>
                <a:lnTo>
                  <a:pt x="4246366" y="0"/>
                </a:lnTo>
                <a:lnTo>
                  <a:pt x="4246366" y="2810322"/>
                </a:lnTo>
                <a:lnTo>
                  <a:pt x="0" y="28103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4" name="Freeform 4"/>
          <p:cNvSpPr/>
          <p:nvPr/>
        </p:nvSpPr>
        <p:spPr>
          <a:xfrm>
            <a:off x="4092269" y="961736"/>
            <a:ext cx="4246366" cy="2810322"/>
          </a:xfrm>
          <a:custGeom>
            <a:avLst/>
            <a:gdLst/>
            <a:ahLst/>
            <a:cxnLst/>
            <a:rect l="l" t="t" r="r" b="b"/>
            <a:pathLst>
              <a:path w="4246366" h="2810322">
                <a:moveTo>
                  <a:pt x="0" y="0"/>
                </a:moveTo>
                <a:lnTo>
                  <a:pt x="4246366" y="0"/>
                </a:lnTo>
                <a:lnTo>
                  <a:pt x="4246366" y="2810322"/>
                </a:lnTo>
                <a:lnTo>
                  <a:pt x="0" y="28103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he-IL"/>
          </a:p>
        </p:txBody>
      </p:sp>
      <p:sp>
        <p:nvSpPr>
          <p:cNvPr id="5" name="Freeform 5"/>
          <p:cNvSpPr/>
          <p:nvPr/>
        </p:nvSpPr>
        <p:spPr>
          <a:xfrm>
            <a:off x="1028700" y="1028700"/>
            <a:ext cx="333507" cy="333507"/>
          </a:xfrm>
          <a:custGeom>
            <a:avLst/>
            <a:gdLst/>
            <a:ahLst/>
            <a:cxnLst/>
            <a:rect l="l" t="t" r="r" b="b"/>
            <a:pathLst>
              <a:path w="333507" h="333507">
                <a:moveTo>
                  <a:pt x="0" y="0"/>
                </a:moveTo>
                <a:lnTo>
                  <a:pt x="333507" y="0"/>
                </a:lnTo>
                <a:lnTo>
                  <a:pt x="333507" y="333507"/>
                </a:lnTo>
                <a:lnTo>
                  <a:pt x="0" y="3335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6" name="Freeform 6"/>
          <p:cNvSpPr/>
          <p:nvPr/>
        </p:nvSpPr>
        <p:spPr>
          <a:xfrm>
            <a:off x="1195454" y="4445002"/>
            <a:ext cx="5186752" cy="5128016"/>
          </a:xfrm>
          <a:custGeom>
            <a:avLst/>
            <a:gdLst/>
            <a:ahLst/>
            <a:cxnLst/>
            <a:rect l="l" t="t" r="r" b="b"/>
            <a:pathLst>
              <a:path w="5186752" h="5128016">
                <a:moveTo>
                  <a:pt x="0" y="0"/>
                </a:moveTo>
                <a:lnTo>
                  <a:pt x="5186752" y="0"/>
                </a:lnTo>
                <a:lnTo>
                  <a:pt x="5186752" y="5128016"/>
                </a:lnTo>
                <a:lnTo>
                  <a:pt x="0" y="5128016"/>
                </a:lnTo>
                <a:lnTo>
                  <a:pt x="0" y="0"/>
                </a:lnTo>
                <a:close/>
              </a:path>
            </a:pathLst>
          </a:custGeom>
          <a:blipFill>
            <a:blip r:embed="rId6"/>
            <a:stretch>
              <a:fillRect r="-18700" b="-20060"/>
            </a:stretch>
          </a:blipFill>
        </p:spPr>
        <p:txBody>
          <a:bodyPr/>
          <a:lstStyle/>
          <a:p>
            <a:endParaRPr lang="he-IL"/>
          </a:p>
        </p:txBody>
      </p:sp>
      <p:sp>
        <p:nvSpPr>
          <p:cNvPr id="7" name="TextBox 7"/>
          <p:cNvSpPr txBox="1"/>
          <p:nvPr/>
        </p:nvSpPr>
        <p:spPr>
          <a:xfrm>
            <a:off x="9372600" y="1027954"/>
            <a:ext cx="7477189" cy="938206"/>
          </a:xfrm>
          <a:prstGeom prst="rect">
            <a:avLst/>
          </a:prstGeom>
        </p:spPr>
        <p:txBody>
          <a:bodyPr lIns="0" tIns="0" rIns="0" bIns="0" rtlCol="0" anchor="t">
            <a:spAutoFit/>
          </a:bodyPr>
          <a:lstStyle/>
          <a:p>
            <a:pPr algn="l">
              <a:lnSpc>
                <a:spcPts val="6800"/>
              </a:lnSpc>
            </a:pPr>
            <a:r>
              <a:rPr lang="en-US" sz="8000" b="1" spc="-453" dirty="0">
                <a:solidFill>
                  <a:srgbClr val="FFFFFF"/>
                </a:solidFill>
                <a:latin typeface="Aptos Black" panose="020F0502020204030204" pitchFamily="34" charset="0"/>
                <a:sym typeface="Bricolage Grotesque Medium"/>
              </a:rPr>
              <a:t>PROJECT REVIEW</a:t>
            </a:r>
          </a:p>
        </p:txBody>
      </p:sp>
      <p:sp>
        <p:nvSpPr>
          <p:cNvPr id="8" name="TextBox 8"/>
          <p:cNvSpPr txBox="1"/>
          <p:nvPr/>
        </p:nvSpPr>
        <p:spPr>
          <a:xfrm>
            <a:off x="9445775" y="2254090"/>
            <a:ext cx="7477189" cy="6548331"/>
          </a:xfrm>
          <a:prstGeom prst="rect">
            <a:avLst/>
          </a:prstGeom>
        </p:spPr>
        <p:txBody>
          <a:bodyPr lIns="0" tIns="0" rIns="0" bIns="0" rtlCol="0" anchor="t">
            <a:spAutoFit/>
          </a:bodyPr>
          <a:lstStyle/>
          <a:p>
            <a:pPr marL="285750" indent="-285750">
              <a:spcBef>
                <a:spcPct val="0"/>
              </a:spcBef>
              <a:buFont typeface="Arial" panose="020B0604020202020204" pitchFamily="34" charset="0"/>
              <a:buChar char="•"/>
            </a:pPr>
            <a:r>
              <a:rPr lang="en-US" sz="2400" dirty="0">
                <a:solidFill>
                  <a:srgbClr val="FFFFFF"/>
                </a:solidFill>
                <a:latin typeface="Lato"/>
                <a:ea typeface="Lato"/>
                <a:cs typeface="Lato"/>
                <a:sym typeface="Lato"/>
              </a:rPr>
              <a:t>Detect weapons from body worn cameras for military and public safety applications.</a:t>
            </a:r>
          </a:p>
          <a:p>
            <a:pPr>
              <a:spcBef>
                <a:spcPct val="0"/>
              </a:spcBef>
            </a:pPr>
            <a:endParaRPr lang="en-US" sz="2400" dirty="0">
              <a:solidFill>
                <a:srgbClr val="FFFFFF"/>
              </a:solidFill>
              <a:latin typeface="Lato"/>
              <a:ea typeface="Lato"/>
              <a:cs typeface="Lato"/>
              <a:sym typeface="Lato"/>
            </a:endParaRPr>
          </a:p>
          <a:p>
            <a:pPr marL="285750" indent="-285750">
              <a:spcBef>
                <a:spcPct val="0"/>
              </a:spcBef>
              <a:buFont typeface="Arial" panose="020B0604020202020204" pitchFamily="34" charset="0"/>
              <a:buChar char="•"/>
            </a:pPr>
            <a:r>
              <a:rPr lang="en-US" sz="2400" dirty="0">
                <a:solidFill>
                  <a:srgbClr val="FFFFFF"/>
                </a:solidFill>
                <a:latin typeface="Lato"/>
                <a:ea typeface="Lato"/>
                <a:cs typeface="Lato"/>
              </a:rPr>
              <a:t>enhanced situational awareness and efficient post event analysis</a:t>
            </a:r>
            <a:r>
              <a:rPr lang="he-IL" sz="2400" dirty="0">
                <a:solidFill>
                  <a:srgbClr val="FFFFFF"/>
                </a:solidFill>
                <a:latin typeface="Lato"/>
                <a:ea typeface="Lato"/>
                <a:cs typeface="Lato"/>
              </a:rPr>
              <a:t>.</a:t>
            </a:r>
          </a:p>
          <a:p>
            <a:pPr marL="285750" indent="-285750">
              <a:spcBef>
                <a:spcPct val="0"/>
              </a:spcBef>
              <a:buFont typeface="Arial" panose="020B0604020202020204" pitchFamily="34" charset="0"/>
              <a:buChar char="•"/>
            </a:pPr>
            <a:endParaRPr lang="he-IL" sz="2400" dirty="0">
              <a:solidFill>
                <a:srgbClr val="FFFFFF"/>
              </a:solidFill>
              <a:latin typeface="Lato"/>
              <a:ea typeface="Lato"/>
              <a:cs typeface="Lato"/>
            </a:endParaRPr>
          </a:p>
          <a:p>
            <a:pPr marL="285750" indent="-285750">
              <a:spcBef>
                <a:spcPct val="0"/>
              </a:spcBef>
              <a:buFont typeface="Arial" panose="020B0604020202020204" pitchFamily="34" charset="0"/>
              <a:buChar char="•"/>
            </a:pPr>
            <a:r>
              <a:rPr lang="en-US" sz="2400" dirty="0">
                <a:solidFill>
                  <a:srgbClr val="FFFFFF"/>
                </a:solidFill>
                <a:latin typeface="Lato"/>
                <a:ea typeface="Lato"/>
                <a:cs typeface="Lato"/>
              </a:rPr>
              <a:t>For some images, we applied bodycam distortions and a 'realism pass’.</a:t>
            </a:r>
          </a:p>
          <a:p>
            <a:pPr marL="285750" indent="-285750">
              <a:spcBef>
                <a:spcPct val="0"/>
              </a:spcBef>
              <a:buFont typeface="Arial" panose="020B0604020202020204" pitchFamily="34" charset="0"/>
              <a:buChar char="•"/>
            </a:pPr>
            <a:endParaRPr lang="en-US" sz="2400" spc="-84" dirty="0">
              <a:solidFill>
                <a:srgbClr val="FFFFFF"/>
              </a:solidFill>
              <a:latin typeface="Lato"/>
              <a:ea typeface="Lato"/>
              <a:cs typeface="Lato"/>
              <a:sym typeface="Bricolage Grotesque Medium"/>
            </a:endParaRPr>
          </a:p>
          <a:p>
            <a:pPr marL="285750" indent="-285750">
              <a:spcBef>
                <a:spcPct val="0"/>
              </a:spcBef>
              <a:buFont typeface="Arial" panose="020B0604020202020204" pitchFamily="34" charset="0"/>
              <a:buChar char="•"/>
            </a:pPr>
            <a:endParaRPr lang="en-US" sz="2400" spc="-84" dirty="0">
              <a:solidFill>
                <a:srgbClr val="FFFFFF"/>
              </a:solidFill>
              <a:latin typeface="Lato"/>
              <a:ea typeface="Lato"/>
              <a:cs typeface="Lato"/>
              <a:sym typeface="Bricolage Grotesque Medium"/>
            </a:endParaRPr>
          </a:p>
          <a:p>
            <a:pPr marL="285750" indent="-285750">
              <a:spcBef>
                <a:spcPct val="0"/>
              </a:spcBef>
              <a:buFont typeface="Arial" panose="020B0604020202020204" pitchFamily="34" charset="0"/>
              <a:buChar char="•"/>
            </a:pPr>
            <a:endParaRPr lang="en-US" sz="2400" b="1" spc="-84" dirty="0">
              <a:solidFill>
                <a:srgbClr val="FFFFFF"/>
              </a:solidFill>
              <a:latin typeface="Lato"/>
              <a:ea typeface="Lato"/>
              <a:cs typeface="Lato"/>
              <a:sym typeface="Bricolage Grotesque Medium"/>
            </a:endParaRPr>
          </a:p>
          <a:p>
            <a:pPr>
              <a:spcBef>
                <a:spcPct val="0"/>
              </a:spcBef>
            </a:pPr>
            <a:r>
              <a:rPr lang="en-US" sz="2400" b="1" u="sng" dirty="0">
                <a:solidFill>
                  <a:srgbClr val="FFFFFF"/>
                </a:solidFill>
                <a:latin typeface="Lato"/>
                <a:ea typeface="Lato"/>
                <a:cs typeface="Lato"/>
                <a:sym typeface="Lato"/>
              </a:rPr>
              <a:t>Core Model</a:t>
            </a:r>
            <a:r>
              <a:rPr lang="en-US" sz="2400" b="1" dirty="0">
                <a:solidFill>
                  <a:srgbClr val="FFFFFF"/>
                </a:solidFill>
                <a:latin typeface="Lato"/>
                <a:ea typeface="Lato"/>
                <a:cs typeface="Lato"/>
                <a:sym typeface="Lato"/>
              </a:rPr>
              <a:t>: </a:t>
            </a:r>
            <a:r>
              <a:rPr lang="en-US" sz="2400" dirty="0">
                <a:solidFill>
                  <a:srgbClr val="FFFFFF"/>
                </a:solidFill>
                <a:latin typeface="Lato"/>
                <a:ea typeface="Lato"/>
                <a:cs typeface="Lato"/>
                <a:sym typeface="Lato"/>
              </a:rPr>
              <a:t>YOLOv8s (Small)</a:t>
            </a:r>
          </a:p>
          <a:p>
            <a:pPr>
              <a:spcBef>
                <a:spcPct val="0"/>
              </a:spcBef>
            </a:pPr>
            <a:endParaRPr lang="en-US" sz="2400" dirty="0">
              <a:solidFill>
                <a:srgbClr val="FFFFFF"/>
              </a:solidFill>
              <a:latin typeface="Lato"/>
              <a:ea typeface="Lato"/>
              <a:cs typeface="Lato"/>
              <a:sym typeface="Lato"/>
            </a:endParaRPr>
          </a:p>
          <a:p>
            <a:pPr>
              <a:spcBef>
                <a:spcPct val="0"/>
              </a:spcBef>
            </a:pPr>
            <a:r>
              <a:rPr lang="en-US" sz="2400" b="1" u="sng" dirty="0">
                <a:solidFill>
                  <a:srgbClr val="FFFFFF"/>
                </a:solidFill>
                <a:latin typeface="Lato"/>
                <a:ea typeface="Lato"/>
                <a:cs typeface="Lato"/>
                <a:sym typeface="Lato"/>
              </a:rPr>
              <a:t>Hybrid Training Strategy: </a:t>
            </a:r>
            <a:endParaRPr lang="en-US" sz="2800" b="1" u="sng" dirty="0">
              <a:solidFill>
                <a:srgbClr val="FFFFFF"/>
              </a:solidFill>
              <a:latin typeface="Lato"/>
              <a:ea typeface="Lato"/>
              <a:cs typeface="Lato"/>
              <a:sym typeface="Lato"/>
            </a:endParaRPr>
          </a:p>
          <a:p>
            <a:pPr>
              <a:spcBef>
                <a:spcPct val="0"/>
              </a:spcBef>
            </a:pPr>
            <a:r>
              <a:rPr lang="en-US" sz="2400" dirty="0">
                <a:solidFill>
                  <a:srgbClr val="FFFFFF"/>
                </a:solidFill>
                <a:latin typeface="Lato"/>
                <a:ea typeface="Lato"/>
                <a:cs typeface="Lato"/>
                <a:sym typeface="Lato"/>
              </a:rPr>
              <a:t>Combining real-world labeled hand-surgical frames with AI-Generated Synthetic Weapon Data (Diffusion-based inpainting).</a:t>
            </a:r>
          </a:p>
          <a:p>
            <a:pPr>
              <a:lnSpc>
                <a:spcPts val="2100"/>
              </a:lnSpc>
              <a:spcBef>
                <a:spcPct val="0"/>
              </a:spcBef>
            </a:pPr>
            <a:endParaRPr lang="en-US" sz="2000" dirty="0">
              <a:solidFill>
                <a:schemeClr val="bg1"/>
              </a:solidFill>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a:extLst>
            <a:ext uri="{FF2B5EF4-FFF2-40B4-BE49-F238E27FC236}">
              <a16:creationId xmlns:a16="http://schemas.microsoft.com/office/drawing/2014/main" id="{3EDF2BFC-738F-48E8-A11E-855FFB825245}"/>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CDBA5010-8377-C480-A78E-8856DDD9EC0B}"/>
              </a:ext>
            </a:extLst>
          </p:cNvPr>
          <p:cNvSpPr txBox="1"/>
          <p:nvPr/>
        </p:nvSpPr>
        <p:spPr>
          <a:xfrm>
            <a:off x="990600" y="876300"/>
            <a:ext cx="7477189" cy="938206"/>
          </a:xfrm>
          <a:prstGeom prst="rect">
            <a:avLst/>
          </a:prstGeom>
        </p:spPr>
        <p:txBody>
          <a:bodyPr lIns="0" tIns="0" rIns="0" bIns="0" rtlCol="0" anchor="t">
            <a:spAutoFit/>
          </a:bodyPr>
          <a:lstStyle/>
          <a:p>
            <a:pPr algn="l">
              <a:lnSpc>
                <a:spcPts val="6800"/>
              </a:lnSpc>
            </a:pPr>
            <a:r>
              <a:rPr lang="en-US" sz="8000" b="1" spc="-453" dirty="0">
                <a:solidFill>
                  <a:srgbClr val="FFFFFF"/>
                </a:solidFill>
                <a:latin typeface="Aptos Black" panose="020F0502020204030204" pitchFamily="34" charset="0"/>
                <a:sym typeface="Bricolage Grotesque Medium"/>
              </a:rPr>
              <a:t>PROJECT REVIEW</a:t>
            </a:r>
          </a:p>
        </p:txBody>
      </p:sp>
      <p:sp>
        <p:nvSpPr>
          <p:cNvPr id="8" name="TextBox 8">
            <a:extLst>
              <a:ext uri="{FF2B5EF4-FFF2-40B4-BE49-F238E27FC236}">
                <a16:creationId xmlns:a16="http://schemas.microsoft.com/office/drawing/2014/main" id="{E19CE661-98CB-45B8-85F7-6C1F1F7D6DFB}"/>
              </a:ext>
            </a:extLst>
          </p:cNvPr>
          <p:cNvSpPr txBox="1"/>
          <p:nvPr/>
        </p:nvSpPr>
        <p:spPr>
          <a:xfrm>
            <a:off x="828611" y="5415348"/>
            <a:ext cx="8620189" cy="2185598"/>
          </a:xfrm>
          <a:prstGeom prst="rect">
            <a:avLst/>
          </a:prstGeom>
        </p:spPr>
        <p:txBody>
          <a:bodyPr wrap="square" lIns="0" tIns="0" rIns="0" bIns="0" rtlCol="0" anchor="t">
            <a:spAutoFit/>
          </a:bodyPr>
          <a:lstStyle/>
          <a:p>
            <a:pPr marL="285750" indent="-285750">
              <a:lnSpc>
                <a:spcPts val="2100"/>
              </a:lnSpc>
              <a:spcBef>
                <a:spcPct val="0"/>
              </a:spcBef>
              <a:buFont typeface="Arial" panose="020B0604020202020204" pitchFamily="34" charset="0"/>
              <a:buChar char="•"/>
            </a:pPr>
            <a:endParaRPr lang="en-US" sz="2000" dirty="0">
              <a:solidFill>
                <a:srgbClr val="FFFFFF"/>
              </a:solidFill>
              <a:latin typeface="Lato"/>
              <a:ea typeface="Lato"/>
              <a:cs typeface="Lato"/>
              <a:sym typeface="Lato"/>
            </a:endParaRPr>
          </a:p>
          <a:p>
            <a:pPr marL="0" lvl="1" indent="-161926">
              <a:spcBef>
                <a:spcPct val="0"/>
              </a:spcBef>
              <a:buFont typeface="Arial"/>
              <a:buChar char="•"/>
            </a:pPr>
            <a:r>
              <a:rPr lang="en-US" sz="2400" b="1" dirty="0">
                <a:solidFill>
                  <a:srgbClr val="FFFFFF"/>
                </a:solidFill>
                <a:latin typeface="Lato"/>
                <a:ea typeface="Lato"/>
                <a:cs typeface="Lato"/>
                <a:sym typeface="Lato"/>
              </a:rPr>
              <a:t>Compositing-</a:t>
            </a:r>
            <a:r>
              <a:rPr lang="en-US" sz="2400" dirty="0">
                <a:solidFill>
                  <a:srgbClr val="FFFFFF"/>
                </a:solidFill>
                <a:latin typeface="Lato"/>
                <a:ea typeface="Lato"/>
                <a:cs typeface="Lato"/>
                <a:sym typeface="Lato"/>
              </a:rPr>
              <a:t> used to overlay real weapon images onto various backgrounds, creating a high quality synthetic dataset with precise labeling</a:t>
            </a:r>
            <a:endParaRPr lang="en-US" sz="2000" dirty="0">
              <a:solidFill>
                <a:schemeClr val="bg1"/>
              </a:solidFill>
              <a:sym typeface="Lato"/>
            </a:endParaRPr>
          </a:p>
          <a:p>
            <a:pPr marL="285750" indent="-285750">
              <a:lnSpc>
                <a:spcPts val="2100"/>
              </a:lnSpc>
              <a:spcBef>
                <a:spcPct val="0"/>
              </a:spcBef>
              <a:buFont typeface="Arial" panose="020B0604020202020204" pitchFamily="34" charset="0"/>
              <a:buChar char="•"/>
            </a:pPr>
            <a:endParaRPr lang="en-US" sz="2000" dirty="0">
              <a:solidFill>
                <a:srgbClr val="FFFFFF"/>
              </a:solidFill>
              <a:latin typeface="Lato"/>
              <a:ea typeface="Lato"/>
              <a:cs typeface="Lato"/>
              <a:sym typeface="Lato"/>
            </a:endParaRPr>
          </a:p>
          <a:p>
            <a:pPr marL="285750" indent="-285750">
              <a:lnSpc>
                <a:spcPts val="2100"/>
              </a:lnSpc>
              <a:spcBef>
                <a:spcPct val="0"/>
              </a:spcBef>
              <a:buFont typeface="Arial" panose="020B0604020202020204" pitchFamily="34" charset="0"/>
              <a:buChar char="•"/>
            </a:pPr>
            <a:endParaRPr lang="en-US" sz="2000" dirty="0">
              <a:solidFill>
                <a:srgbClr val="FFFFFF"/>
              </a:solidFill>
              <a:latin typeface="Lato"/>
              <a:ea typeface="Lato"/>
              <a:cs typeface="Lato"/>
              <a:sym typeface="Lato"/>
            </a:endParaRPr>
          </a:p>
          <a:p>
            <a:pPr>
              <a:lnSpc>
                <a:spcPts val="2100"/>
              </a:lnSpc>
              <a:spcBef>
                <a:spcPct val="0"/>
              </a:spcBef>
            </a:pPr>
            <a:endParaRPr lang="en-US" sz="2000" dirty="0">
              <a:solidFill>
                <a:schemeClr val="bg1"/>
              </a:solidFill>
              <a:sym typeface="Lato"/>
            </a:endParaRPr>
          </a:p>
        </p:txBody>
      </p:sp>
      <p:sp>
        <p:nvSpPr>
          <p:cNvPr id="11" name="תיבת טקסט 10">
            <a:extLst>
              <a:ext uri="{FF2B5EF4-FFF2-40B4-BE49-F238E27FC236}">
                <a16:creationId xmlns:a16="http://schemas.microsoft.com/office/drawing/2014/main" id="{A64E31B9-A573-F6A1-8E83-C2E01C68BAB5}"/>
              </a:ext>
            </a:extLst>
          </p:cNvPr>
          <p:cNvSpPr txBox="1"/>
          <p:nvPr/>
        </p:nvSpPr>
        <p:spPr>
          <a:xfrm>
            <a:off x="676213" y="1814506"/>
            <a:ext cx="9144000" cy="1838965"/>
          </a:xfrm>
          <a:prstGeom prst="rect">
            <a:avLst/>
          </a:prstGeom>
          <a:noFill/>
        </p:spPr>
        <p:txBody>
          <a:bodyPr wrap="square">
            <a:spAutoFit/>
          </a:bodyPr>
          <a:lstStyle/>
          <a:p>
            <a:pPr marL="161926" lvl="1">
              <a:spcBef>
                <a:spcPct val="0"/>
              </a:spcBef>
            </a:pPr>
            <a:r>
              <a:rPr lang="en-US" sz="2400" u="sng" dirty="0">
                <a:solidFill>
                  <a:srgbClr val="FFFFFF"/>
                </a:solidFill>
                <a:latin typeface="Lato"/>
                <a:ea typeface="Lato"/>
                <a:cs typeface="Lato"/>
                <a:sym typeface="Lato"/>
              </a:rPr>
              <a:t>Data</a:t>
            </a:r>
          </a:p>
          <a:p>
            <a:pPr marL="161926" lvl="1">
              <a:spcBef>
                <a:spcPct val="0"/>
              </a:spcBef>
            </a:pPr>
            <a:endParaRPr lang="en-US" sz="2400" dirty="0">
              <a:solidFill>
                <a:srgbClr val="FFFFFF"/>
              </a:solidFill>
              <a:latin typeface="Lato"/>
              <a:ea typeface="Lato"/>
              <a:cs typeface="Lato"/>
              <a:sym typeface="Lato"/>
            </a:endParaRPr>
          </a:p>
          <a:p>
            <a:pPr marL="323852" lvl="1" indent="-161926">
              <a:spcBef>
                <a:spcPct val="0"/>
              </a:spcBef>
              <a:buFont typeface="Arial"/>
              <a:buChar char="•"/>
            </a:pPr>
            <a:r>
              <a:rPr lang="en-US" sz="2400" b="1" dirty="0">
                <a:solidFill>
                  <a:srgbClr val="FFFFFF"/>
                </a:solidFill>
                <a:latin typeface="Lato"/>
                <a:ea typeface="Lato"/>
                <a:cs typeface="Lato"/>
                <a:sym typeface="Lato"/>
              </a:rPr>
              <a:t>Augment existing dataset</a:t>
            </a:r>
            <a:r>
              <a:rPr lang="en-US" sz="2400" dirty="0">
                <a:solidFill>
                  <a:srgbClr val="FFFFFF"/>
                </a:solidFill>
                <a:latin typeface="Lato"/>
                <a:ea typeface="Lato"/>
                <a:cs typeface="Lato"/>
                <a:sym typeface="Lato"/>
              </a:rPr>
              <a:t>: introduce distortions to existing surveillance images with already labeled weapons.</a:t>
            </a:r>
          </a:p>
          <a:p>
            <a:pPr marL="323852" lvl="1" indent="-161926">
              <a:lnSpc>
                <a:spcPts val="2100"/>
              </a:lnSpc>
              <a:spcBef>
                <a:spcPct val="0"/>
              </a:spcBef>
              <a:buFont typeface="Arial"/>
              <a:buChar char="•"/>
            </a:pPr>
            <a:endParaRPr lang="en-US" dirty="0">
              <a:solidFill>
                <a:schemeClr val="bg1"/>
              </a:solidFill>
              <a:sym typeface="Lato"/>
            </a:endParaRPr>
          </a:p>
        </p:txBody>
      </p:sp>
      <p:pic>
        <p:nvPicPr>
          <p:cNvPr id="12" name="תמונה 11" descr="תמונה שמכילה צילום מסך, קולאז’, אדם, בחוץ&#10;&#10;תוכן בינה מלאכותית גנרטיבית עשוי להיות שגוי.">
            <a:extLst>
              <a:ext uri="{FF2B5EF4-FFF2-40B4-BE49-F238E27FC236}">
                <a16:creationId xmlns:a16="http://schemas.microsoft.com/office/drawing/2014/main" id="{38DFDE20-B666-95D9-0CB2-565F52507EBE}"/>
              </a:ext>
            </a:extLst>
          </p:cNvPr>
          <p:cNvPicPr>
            <a:picLocks noChangeAspect="1"/>
          </p:cNvPicPr>
          <p:nvPr/>
        </p:nvPicPr>
        <p:blipFill>
          <a:blip r:embed="rId3"/>
          <a:stretch>
            <a:fillRect/>
          </a:stretch>
        </p:blipFill>
        <p:spPr>
          <a:xfrm>
            <a:off x="10591800" y="168336"/>
            <a:ext cx="6339811" cy="6339811"/>
          </a:xfrm>
          <a:prstGeom prst="rect">
            <a:avLst/>
          </a:prstGeom>
        </p:spPr>
      </p:pic>
      <p:pic>
        <p:nvPicPr>
          <p:cNvPr id="13" name="תמונה 12" descr="תמונה שמכילה צילום מסך, טקסט&#10;&#10;תוכן בינה מלאכותית גנרטיבית עשוי להיות שגוי.">
            <a:extLst>
              <a:ext uri="{FF2B5EF4-FFF2-40B4-BE49-F238E27FC236}">
                <a16:creationId xmlns:a16="http://schemas.microsoft.com/office/drawing/2014/main" id="{27AFEB0E-42B1-5539-3FE5-0EE8F43F4C7D}"/>
              </a:ext>
            </a:extLst>
          </p:cNvPr>
          <p:cNvPicPr>
            <a:picLocks noChangeAspect="1"/>
          </p:cNvPicPr>
          <p:nvPr/>
        </p:nvPicPr>
        <p:blipFill>
          <a:blip r:embed="rId4"/>
          <a:stretch>
            <a:fillRect/>
          </a:stretch>
        </p:blipFill>
        <p:spPr>
          <a:xfrm>
            <a:off x="828611" y="6948758"/>
            <a:ext cx="11921927" cy="2980481"/>
          </a:xfrm>
          <a:prstGeom prst="rect">
            <a:avLst/>
          </a:prstGeom>
        </p:spPr>
      </p:pic>
    </p:spTree>
    <p:extLst>
      <p:ext uri="{BB962C8B-B14F-4D97-AF65-F5344CB8AC3E}">
        <p14:creationId xmlns:p14="http://schemas.microsoft.com/office/powerpoint/2010/main" val="2167766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TextBox 2"/>
          <p:cNvSpPr txBox="1"/>
          <p:nvPr/>
        </p:nvSpPr>
        <p:spPr>
          <a:xfrm>
            <a:off x="2362200" y="2524929"/>
            <a:ext cx="8644214" cy="1810239"/>
          </a:xfrm>
          <a:prstGeom prst="rect">
            <a:avLst/>
          </a:prstGeom>
        </p:spPr>
        <p:txBody>
          <a:bodyPr wrap="square" lIns="0" tIns="0" rIns="0" bIns="0" rtlCol="0" anchor="t">
            <a:spAutoFit/>
          </a:bodyPr>
          <a:lstStyle/>
          <a:p>
            <a:pPr>
              <a:lnSpc>
                <a:spcPts val="6800"/>
              </a:lnSpc>
            </a:pPr>
            <a:r>
              <a:rPr lang="en-US" sz="8000" b="1" spc="-453" dirty="0">
                <a:solidFill>
                  <a:srgbClr val="FFFFFF"/>
                </a:solidFill>
                <a:latin typeface="Aptos Black" panose="020F0502020204030204" pitchFamily="34" charset="0"/>
                <a:sym typeface="Bricolage Grotesque Medium"/>
              </a:rPr>
              <a:t>ACHIEVEMENTS &amp; NOVELTY</a:t>
            </a:r>
          </a:p>
        </p:txBody>
      </p:sp>
      <p:sp>
        <p:nvSpPr>
          <p:cNvPr id="3" name="Freeform 3"/>
          <p:cNvSpPr/>
          <p:nvPr/>
        </p:nvSpPr>
        <p:spPr>
          <a:xfrm rot="-5400000">
            <a:off x="12824328" y="4823328"/>
            <a:ext cx="4434972" cy="4434972"/>
          </a:xfrm>
          <a:custGeom>
            <a:avLst/>
            <a:gdLst/>
            <a:ahLst/>
            <a:cxnLst/>
            <a:rect l="l" t="t" r="r" b="b"/>
            <a:pathLst>
              <a:path w="4434972" h="4434972">
                <a:moveTo>
                  <a:pt x="0" y="0"/>
                </a:moveTo>
                <a:lnTo>
                  <a:pt x="4434972" y="0"/>
                </a:lnTo>
                <a:lnTo>
                  <a:pt x="4434972" y="4434972"/>
                </a:lnTo>
                <a:lnTo>
                  <a:pt x="0" y="44349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4" name="Freeform 4"/>
          <p:cNvSpPr/>
          <p:nvPr/>
        </p:nvSpPr>
        <p:spPr>
          <a:xfrm rot="5400000">
            <a:off x="1028700" y="1028700"/>
            <a:ext cx="3416302" cy="3416302"/>
          </a:xfrm>
          <a:custGeom>
            <a:avLst/>
            <a:gdLst/>
            <a:ahLst/>
            <a:cxnLst/>
            <a:rect l="l" t="t" r="r" b="b"/>
            <a:pathLst>
              <a:path w="3416302" h="3416302">
                <a:moveTo>
                  <a:pt x="0" y="0"/>
                </a:moveTo>
                <a:lnTo>
                  <a:pt x="3416302" y="0"/>
                </a:lnTo>
                <a:lnTo>
                  <a:pt x="3416302" y="3416302"/>
                </a:lnTo>
                <a:lnTo>
                  <a:pt x="0" y="34163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5" name="AutoShape 5"/>
          <p:cNvSpPr/>
          <p:nvPr/>
        </p:nvSpPr>
        <p:spPr>
          <a:xfrm>
            <a:off x="1195453" y="9529282"/>
            <a:ext cx="10830441" cy="0"/>
          </a:xfrm>
          <a:prstGeom prst="line">
            <a:avLst/>
          </a:prstGeom>
          <a:ln w="9525" cap="flat">
            <a:solidFill>
              <a:srgbClr val="FFFFFF"/>
            </a:solidFill>
            <a:prstDash val="solid"/>
            <a:headEnd type="none" w="sm" len="sm"/>
            <a:tailEnd type="none" w="sm" len="sm"/>
          </a:ln>
        </p:spPr>
        <p:txBody>
          <a:bodyPr/>
          <a:lstStyle/>
          <a:p>
            <a:endParaRPr lang="he-IL" dirty="0"/>
          </a:p>
        </p:txBody>
      </p:sp>
      <p:sp>
        <p:nvSpPr>
          <p:cNvPr id="7" name="Freeform 7"/>
          <p:cNvSpPr/>
          <p:nvPr/>
        </p:nvSpPr>
        <p:spPr>
          <a:xfrm>
            <a:off x="11859141" y="1943157"/>
            <a:ext cx="3837829" cy="5760343"/>
          </a:xfrm>
          <a:custGeom>
            <a:avLst/>
            <a:gdLst/>
            <a:ahLst/>
            <a:cxnLst/>
            <a:rect l="l" t="t" r="r" b="b"/>
            <a:pathLst>
              <a:path w="3837829" h="5760343">
                <a:moveTo>
                  <a:pt x="0" y="0"/>
                </a:moveTo>
                <a:lnTo>
                  <a:pt x="3837829" y="0"/>
                </a:lnTo>
                <a:lnTo>
                  <a:pt x="3837829" y="5760343"/>
                </a:lnTo>
                <a:lnTo>
                  <a:pt x="0" y="5760343"/>
                </a:lnTo>
                <a:lnTo>
                  <a:pt x="0" y="0"/>
                </a:lnTo>
                <a:close/>
              </a:path>
            </a:pathLst>
          </a:custGeom>
          <a:blipFill>
            <a:blip r:embed="rId4"/>
            <a:stretch>
              <a:fillRect/>
            </a:stretch>
          </a:blipFill>
        </p:spPr>
        <p:txBody>
          <a:bodyPr/>
          <a:lstStyle/>
          <a:p>
            <a:endParaRPr lang="he-IL"/>
          </a:p>
        </p:txBody>
      </p:sp>
      <p:sp>
        <p:nvSpPr>
          <p:cNvPr id="9" name="TextBox 8">
            <a:extLst>
              <a:ext uri="{FF2B5EF4-FFF2-40B4-BE49-F238E27FC236}">
                <a16:creationId xmlns:a16="http://schemas.microsoft.com/office/drawing/2014/main" id="{A45E1631-82EC-5488-E2E5-2B96B777B628}"/>
              </a:ext>
            </a:extLst>
          </p:cNvPr>
          <p:cNvSpPr txBox="1"/>
          <p:nvPr/>
        </p:nvSpPr>
        <p:spPr>
          <a:xfrm>
            <a:off x="2356757" y="4324282"/>
            <a:ext cx="8644214" cy="5194114"/>
          </a:xfrm>
          <a:prstGeom prst="rect">
            <a:avLst/>
          </a:prstGeom>
        </p:spPr>
        <p:txBody>
          <a:bodyPr wrap="square" lIns="0" tIns="0" rIns="0" bIns="0" rtlCol="0" anchor="t">
            <a:spAutoFit/>
          </a:bodyPr>
          <a:lstStyle/>
          <a:p>
            <a:pPr marL="285750" indent="-285750">
              <a:spcBef>
                <a:spcPct val="0"/>
              </a:spcBef>
              <a:buFont typeface="Arial" panose="020B0604020202020204" pitchFamily="34" charset="0"/>
              <a:buChar char="•"/>
            </a:pPr>
            <a:r>
              <a:rPr lang="en-US" sz="2800" b="1" dirty="0">
                <a:solidFill>
                  <a:srgbClr val="FFFFFF"/>
                </a:solidFill>
                <a:latin typeface="Lato"/>
                <a:ea typeface="Lato"/>
                <a:cs typeface="Lato"/>
                <a:sym typeface="Lato"/>
              </a:rPr>
              <a:t>Bodycam conditions- </a:t>
            </a:r>
            <a:r>
              <a:rPr lang="en-US" sz="2400" dirty="0">
                <a:solidFill>
                  <a:srgbClr val="FFFFFF"/>
                </a:solidFill>
                <a:latin typeface="Lato"/>
                <a:ea typeface="Lato"/>
                <a:cs typeface="Lato"/>
                <a:sym typeface="Lato"/>
              </a:rPr>
              <a:t>Implemented a GenAI based detection model that identifies weapons under challenging environmental conditions.</a:t>
            </a:r>
          </a:p>
          <a:p>
            <a:pPr marL="285750" indent="-285750">
              <a:spcBef>
                <a:spcPct val="0"/>
              </a:spcBef>
              <a:buFont typeface="Arial" panose="020B0604020202020204" pitchFamily="34" charset="0"/>
              <a:buChar char="•"/>
            </a:pPr>
            <a:endParaRPr lang="en-US" sz="2400" dirty="0">
              <a:solidFill>
                <a:srgbClr val="FFFFFF"/>
              </a:solidFill>
              <a:latin typeface="Lato"/>
              <a:ea typeface="Lato"/>
              <a:cs typeface="Lato"/>
              <a:sym typeface="Lato"/>
            </a:endParaRPr>
          </a:p>
          <a:p>
            <a:pPr marL="285750" indent="-285750">
              <a:spcBef>
                <a:spcPct val="0"/>
              </a:spcBef>
              <a:buFont typeface="Arial" panose="020B0604020202020204" pitchFamily="34" charset="0"/>
              <a:buChar char="•"/>
            </a:pPr>
            <a:r>
              <a:rPr lang="en-US" sz="2800" b="1" dirty="0">
                <a:solidFill>
                  <a:srgbClr val="FFFFFF"/>
                </a:solidFill>
                <a:latin typeface="Lato"/>
                <a:ea typeface="Lato"/>
                <a:cs typeface="Lato"/>
                <a:sym typeface="Lato"/>
              </a:rPr>
              <a:t>Synthetic Data- </a:t>
            </a:r>
            <a:r>
              <a:rPr lang="en-US" sz="2400" dirty="0">
                <a:solidFill>
                  <a:srgbClr val="FFFFFF"/>
                </a:solidFill>
                <a:latin typeface="Lato"/>
                <a:ea typeface="Lato"/>
                <a:cs typeface="Lato"/>
                <a:sym typeface="Lato"/>
              </a:rPr>
              <a:t>Created a custom dataset using Image compositing and AI driven weapon synthesis, applying distortions to perfectly mirror the unique visual challenges of real world bodycam footage.</a:t>
            </a:r>
          </a:p>
          <a:p>
            <a:pPr marL="285750" indent="-285750">
              <a:spcBef>
                <a:spcPct val="0"/>
              </a:spcBef>
              <a:buFont typeface="Arial" panose="020B0604020202020204" pitchFamily="34" charset="0"/>
              <a:buChar char="•"/>
            </a:pPr>
            <a:endParaRPr lang="en-US" sz="2400" dirty="0">
              <a:solidFill>
                <a:srgbClr val="FFFFFF"/>
              </a:solidFill>
              <a:latin typeface="Lato"/>
              <a:ea typeface="Lato"/>
              <a:cs typeface="Lato"/>
              <a:sym typeface="Lato"/>
            </a:endParaRPr>
          </a:p>
          <a:p>
            <a:pPr marL="285750" indent="-285750">
              <a:spcBef>
                <a:spcPct val="0"/>
              </a:spcBef>
              <a:buFont typeface="Arial" panose="020B0604020202020204" pitchFamily="34" charset="0"/>
              <a:buChar char="•"/>
            </a:pPr>
            <a:r>
              <a:rPr lang="en-US" sz="2400" dirty="0">
                <a:solidFill>
                  <a:srgbClr val="FFFFFF"/>
                </a:solidFill>
                <a:latin typeface="Lato"/>
                <a:ea typeface="Lato"/>
                <a:cs typeface="Lato"/>
                <a:sym typeface="Lato"/>
              </a:rPr>
              <a:t> At the end of our project, we reached a point where our model receives an image that is not in the training data, it  can identify the weapon despite the noise in the image at high percentages (an example will be shown in the results slide).</a:t>
            </a:r>
          </a:p>
          <a:p>
            <a:pPr>
              <a:lnSpc>
                <a:spcPts val="2100"/>
              </a:lnSpc>
              <a:spcBef>
                <a:spcPct val="0"/>
              </a:spcBef>
            </a:pPr>
            <a:endParaRPr lang="en-US" sz="2000" dirty="0">
              <a:solidFill>
                <a:schemeClr val="bg1"/>
              </a:solidFill>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11" name="מלבן: פינות מעוגלות 10">
            <a:extLst>
              <a:ext uri="{FF2B5EF4-FFF2-40B4-BE49-F238E27FC236}">
                <a16:creationId xmlns:a16="http://schemas.microsoft.com/office/drawing/2014/main" id="{B165FA37-51FC-4815-F1C5-F418CCE314EE}"/>
              </a:ext>
            </a:extLst>
          </p:cNvPr>
          <p:cNvSpPr/>
          <p:nvPr/>
        </p:nvSpPr>
        <p:spPr>
          <a:xfrm>
            <a:off x="12422127" y="3757934"/>
            <a:ext cx="4201112" cy="3484245"/>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מלבן: פינות מעוגלות 6">
            <a:extLst>
              <a:ext uri="{FF2B5EF4-FFF2-40B4-BE49-F238E27FC236}">
                <a16:creationId xmlns:a16="http://schemas.microsoft.com/office/drawing/2014/main" id="{E5877203-E234-C4FA-7492-6FE2D4042F0C}"/>
              </a:ext>
            </a:extLst>
          </p:cNvPr>
          <p:cNvSpPr/>
          <p:nvPr/>
        </p:nvSpPr>
        <p:spPr>
          <a:xfrm>
            <a:off x="7043444" y="3757935"/>
            <a:ext cx="4201112" cy="3484245"/>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6" name="מלבן: פינות מעוגלות 5">
            <a:extLst>
              <a:ext uri="{FF2B5EF4-FFF2-40B4-BE49-F238E27FC236}">
                <a16:creationId xmlns:a16="http://schemas.microsoft.com/office/drawing/2014/main" id="{3D8EB873-A790-5081-86E0-BADFE71E8BE1}"/>
              </a:ext>
            </a:extLst>
          </p:cNvPr>
          <p:cNvSpPr/>
          <p:nvPr/>
        </p:nvSpPr>
        <p:spPr>
          <a:xfrm>
            <a:off x="1664761" y="3757936"/>
            <a:ext cx="4201112" cy="3484245"/>
          </a:xfrm>
          <a:prstGeom prst="round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8"/>
          <p:cNvSpPr txBox="1"/>
          <p:nvPr/>
        </p:nvSpPr>
        <p:spPr>
          <a:xfrm>
            <a:off x="1028700" y="1285875"/>
            <a:ext cx="7886700" cy="1810239"/>
          </a:xfrm>
          <a:prstGeom prst="rect">
            <a:avLst/>
          </a:prstGeom>
        </p:spPr>
        <p:txBody>
          <a:bodyPr wrap="square" lIns="0" tIns="0" rIns="0" bIns="0" rtlCol="0" anchor="t">
            <a:spAutoFit/>
          </a:bodyPr>
          <a:lstStyle/>
          <a:p>
            <a:pPr algn="l">
              <a:lnSpc>
                <a:spcPts val="6800"/>
              </a:lnSpc>
            </a:pPr>
            <a:r>
              <a:rPr lang="en-US" sz="8000" b="1" spc="-453" dirty="0">
                <a:solidFill>
                  <a:srgbClr val="FFFFFF"/>
                </a:solidFill>
                <a:latin typeface="Aptos Black" panose="020F0502020204030204" pitchFamily="34" charset="0"/>
                <a:sym typeface="Bricolage Grotesque Medium"/>
              </a:rPr>
              <a:t>REVIEW METHODOLOGY</a:t>
            </a:r>
          </a:p>
        </p:txBody>
      </p:sp>
      <p:sp>
        <p:nvSpPr>
          <p:cNvPr id="9" name="TextBox 9"/>
          <p:cNvSpPr txBox="1"/>
          <p:nvPr/>
        </p:nvSpPr>
        <p:spPr>
          <a:xfrm>
            <a:off x="1808172" y="4022728"/>
            <a:ext cx="3914291" cy="2954655"/>
          </a:xfrm>
          <a:prstGeom prst="rect">
            <a:avLst/>
          </a:prstGeom>
          <a:ln>
            <a:noFill/>
          </a:ln>
        </p:spPr>
        <p:txBody>
          <a:bodyPr wrap="square" lIns="0" tIns="0" rIns="0" bIns="0" rtlCol="0" anchor="t">
            <a:spAutoFit/>
          </a:bodyPr>
          <a:lstStyle/>
          <a:p>
            <a:pPr algn="ctr">
              <a:spcBef>
                <a:spcPct val="0"/>
              </a:spcBef>
            </a:pPr>
            <a:r>
              <a:rPr lang="en-US" sz="2400" b="1" dirty="0">
                <a:solidFill>
                  <a:schemeClr val="tx1">
                    <a:lumMod val="50000"/>
                    <a:lumOff val="50000"/>
                  </a:schemeClr>
                </a:solidFill>
                <a:latin typeface="Lato"/>
                <a:ea typeface="Lato"/>
                <a:cs typeface="Lato"/>
                <a:sym typeface="Bricolage Grotesque Medium"/>
              </a:rPr>
              <a:t>Step</a:t>
            </a:r>
            <a:r>
              <a:rPr lang="en-US" sz="2400" b="1" dirty="0">
                <a:latin typeface="Lato"/>
                <a:ea typeface="Lato"/>
                <a:cs typeface="Lato"/>
                <a:sym typeface="Bricolage Grotesque Medium"/>
              </a:rPr>
              <a:t> </a:t>
            </a:r>
            <a:r>
              <a:rPr lang="en-US" sz="2400" b="1" dirty="0">
                <a:solidFill>
                  <a:schemeClr val="tx1">
                    <a:lumMod val="50000"/>
                    <a:lumOff val="50000"/>
                  </a:schemeClr>
                </a:solidFill>
                <a:latin typeface="Lato"/>
                <a:ea typeface="Lato"/>
                <a:cs typeface="Lato"/>
                <a:sym typeface="Bricolage Grotesque Medium"/>
              </a:rPr>
              <a:t>1</a:t>
            </a:r>
          </a:p>
          <a:p>
            <a:pPr algn="ctr">
              <a:spcBef>
                <a:spcPct val="0"/>
              </a:spcBef>
            </a:pPr>
            <a:r>
              <a:rPr lang="en-US" sz="2400" dirty="0">
                <a:solidFill>
                  <a:srgbClr val="FFFFFF"/>
                </a:solidFill>
                <a:latin typeface="Lato"/>
                <a:ea typeface="Lato"/>
                <a:cs typeface="Lato"/>
                <a:sym typeface="Bricolage Grotesque Medium"/>
              </a:rPr>
              <a:t>Preparing the data for the model, using real data and </a:t>
            </a:r>
            <a:r>
              <a:rPr lang="en-US" sz="2400" dirty="0">
                <a:solidFill>
                  <a:srgbClr val="FFFFFF"/>
                </a:solidFill>
                <a:latin typeface="Lato"/>
                <a:ea typeface="Lato"/>
                <a:cs typeface="Lato"/>
                <a:sym typeface="Lato"/>
              </a:rPr>
              <a:t>Synthetic Data</a:t>
            </a:r>
            <a:r>
              <a:rPr lang="en-US" sz="2400" dirty="0">
                <a:solidFill>
                  <a:srgbClr val="FFFFFF"/>
                </a:solidFill>
                <a:latin typeface="Lato"/>
                <a:ea typeface="Lato"/>
                <a:cs typeface="Lato"/>
                <a:sym typeface="Bricolage Grotesque Medium"/>
              </a:rPr>
              <a:t>.</a:t>
            </a:r>
          </a:p>
          <a:p>
            <a:pPr algn="ctr">
              <a:spcBef>
                <a:spcPct val="0"/>
              </a:spcBef>
            </a:pPr>
            <a:r>
              <a:rPr lang="en-US" sz="2400" dirty="0">
                <a:solidFill>
                  <a:srgbClr val="FFFFFF"/>
                </a:solidFill>
                <a:latin typeface="Lato"/>
                <a:ea typeface="Lato"/>
                <a:cs typeface="Lato"/>
                <a:sym typeface="Bricolage Grotesque Medium"/>
              </a:rPr>
              <a:t>Including validation process confirming that the dataset is consistent, clean and error free.</a:t>
            </a:r>
          </a:p>
        </p:txBody>
      </p:sp>
      <p:sp>
        <p:nvSpPr>
          <p:cNvPr id="18" name="TextBox 8">
            <a:extLst>
              <a:ext uri="{FF2B5EF4-FFF2-40B4-BE49-F238E27FC236}">
                <a16:creationId xmlns:a16="http://schemas.microsoft.com/office/drawing/2014/main" id="{E51AC771-6E6E-38E0-E227-00128DE2D9CE}"/>
              </a:ext>
            </a:extLst>
          </p:cNvPr>
          <p:cNvSpPr txBox="1"/>
          <p:nvPr/>
        </p:nvSpPr>
        <p:spPr>
          <a:xfrm>
            <a:off x="1098967" y="3249997"/>
            <a:ext cx="7477189" cy="269689"/>
          </a:xfrm>
          <a:prstGeom prst="rect">
            <a:avLst/>
          </a:prstGeom>
        </p:spPr>
        <p:txBody>
          <a:bodyPr lIns="0" tIns="0" rIns="0" bIns="0" rtlCol="0" anchor="t">
            <a:spAutoFit/>
          </a:bodyPr>
          <a:lstStyle/>
          <a:p>
            <a:pPr>
              <a:lnSpc>
                <a:spcPts val="2100"/>
              </a:lnSpc>
              <a:spcBef>
                <a:spcPct val="0"/>
              </a:spcBef>
            </a:pPr>
            <a:r>
              <a:rPr lang="en-US" sz="2400" u="sng" dirty="0">
                <a:solidFill>
                  <a:srgbClr val="FFFFFF"/>
                </a:solidFill>
                <a:latin typeface="Lato"/>
                <a:ea typeface="Lato"/>
                <a:cs typeface="Lato"/>
                <a:sym typeface="Lato"/>
              </a:rPr>
              <a:t>The project process</a:t>
            </a:r>
            <a:r>
              <a:rPr lang="en-US" sz="2000" u="sng" dirty="0">
                <a:solidFill>
                  <a:srgbClr val="FFFFFF"/>
                </a:solidFill>
                <a:latin typeface="Lato"/>
                <a:ea typeface="Lato"/>
                <a:cs typeface="Lato"/>
                <a:sym typeface="Lato"/>
              </a:rPr>
              <a:t>:</a:t>
            </a:r>
          </a:p>
        </p:txBody>
      </p:sp>
      <p:sp>
        <p:nvSpPr>
          <p:cNvPr id="20" name="TextBox 9">
            <a:extLst>
              <a:ext uri="{FF2B5EF4-FFF2-40B4-BE49-F238E27FC236}">
                <a16:creationId xmlns:a16="http://schemas.microsoft.com/office/drawing/2014/main" id="{A2826990-3BB5-5344-2B13-BE1863B54955}"/>
              </a:ext>
            </a:extLst>
          </p:cNvPr>
          <p:cNvSpPr txBox="1"/>
          <p:nvPr/>
        </p:nvSpPr>
        <p:spPr>
          <a:xfrm>
            <a:off x="7587781" y="4022728"/>
            <a:ext cx="3177752" cy="2128788"/>
          </a:xfrm>
          <a:prstGeom prst="rect">
            <a:avLst/>
          </a:prstGeom>
        </p:spPr>
        <p:txBody>
          <a:bodyPr lIns="0" tIns="0" rIns="0" bIns="0" rtlCol="0" anchor="t">
            <a:spAutoFit/>
          </a:bodyPr>
          <a:lstStyle/>
          <a:p>
            <a:pPr algn="ctr">
              <a:spcBef>
                <a:spcPct val="0"/>
              </a:spcBef>
            </a:pPr>
            <a:r>
              <a:rPr lang="en-US" sz="2400" b="1" dirty="0">
                <a:solidFill>
                  <a:schemeClr val="tx1">
                    <a:lumMod val="50000"/>
                    <a:lumOff val="50000"/>
                  </a:schemeClr>
                </a:solidFill>
                <a:latin typeface="Lato"/>
                <a:ea typeface="Lato"/>
                <a:cs typeface="Lato"/>
                <a:sym typeface="Bricolage Grotesque Medium"/>
              </a:rPr>
              <a:t>Step 2</a:t>
            </a:r>
            <a:endParaRPr lang="en-US" sz="2400" dirty="0">
              <a:solidFill>
                <a:schemeClr val="tx1">
                  <a:lumMod val="50000"/>
                  <a:lumOff val="50000"/>
                </a:schemeClr>
              </a:solidFill>
              <a:latin typeface="Lato"/>
              <a:ea typeface="Lato"/>
              <a:cs typeface="Lato"/>
              <a:sym typeface="Bricolage Grotesque Medium"/>
            </a:endParaRPr>
          </a:p>
          <a:p>
            <a:pPr algn="ctr">
              <a:spcBef>
                <a:spcPct val="0"/>
              </a:spcBef>
            </a:pPr>
            <a:r>
              <a:rPr lang="en-US" sz="2400" dirty="0">
                <a:solidFill>
                  <a:srgbClr val="FFFFFF"/>
                </a:solidFill>
                <a:latin typeface="Lato"/>
                <a:ea typeface="Lato"/>
                <a:cs typeface="Lato"/>
                <a:sym typeface="Bricolage Grotesque Medium"/>
              </a:rPr>
              <a:t>Model selection and training, Used YOLOv8s (Small) Model.</a:t>
            </a:r>
          </a:p>
          <a:p>
            <a:pPr>
              <a:lnSpc>
                <a:spcPts val="2239"/>
              </a:lnSpc>
              <a:spcBef>
                <a:spcPct val="0"/>
              </a:spcBef>
            </a:pPr>
            <a:endParaRPr lang="en-US" sz="2000" dirty="0">
              <a:solidFill>
                <a:srgbClr val="FFFFFF"/>
              </a:solidFill>
              <a:latin typeface="Lato"/>
              <a:ea typeface="Lato"/>
              <a:cs typeface="Lato"/>
              <a:sym typeface="Bricolage Grotesque Medium"/>
            </a:endParaRPr>
          </a:p>
        </p:txBody>
      </p:sp>
      <p:sp>
        <p:nvSpPr>
          <p:cNvPr id="22" name="TextBox 9">
            <a:extLst>
              <a:ext uri="{FF2B5EF4-FFF2-40B4-BE49-F238E27FC236}">
                <a16:creationId xmlns:a16="http://schemas.microsoft.com/office/drawing/2014/main" id="{901DE4F1-357C-08E7-5510-C62631408277}"/>
              </a:ext>
            </a:extLst>
          </p:cNvPr>
          <p:cNvSpPr txBox="1"/>
          <p:nvPr/>
        </p:nvSpPr>
        <p:spPr>
          <a:xfrm>
            <a:off x="12933807" y="3935525"/>
            <a:ext cx="3177752" cy="2215991"/>
          </a:xfrm>
          <a:prstGeom prst="rect">
            <a:avLst/>
          </a:prstGeom>
        </p:spPr>
        <p:txBody>
          <a:bodyPr lIns="0" tIns="0" rIns="0" bIns="0" rtlCol="0" anchor="t">
            <a:spAutoFit/>
          </a:bodyPr>
          <a:lstStyle/>
          <a:p>
            <a:pPr algn="ctr">
              <a:spcBef>
                <a:spcPct val="0"/>
              </a:spcBef>
            </a:pPr>
            <a:r>
              <a:rPr lang="en-US" sz="2400" b="1" dirty="0">
                <a:solidFill>
                  <a:schemeClr val="tx1">
                    <a:lumMod val="50000"/>
                    <a:lumOff val="50000"/>
                  </a:schemeClr>
                </a:solidFill>
                <a:latin typeface="Lato"/>
                <a:ea typeface="Lato"/>
                <a:cs typeface="Lato"/>
                <a:sym typeface="Bricolage Grotesque Medium"/>
              </a:rPr>
              <a:t>Step 3</a:t>
            </a:r>
          </a:p>
          <a:p>
            <a:pPr algn="ctr">
              <a:spcBef>
                <a:spcPct val="0"/>
              </a:spcBef>
            </a:pPr>
            <a:r>
              <a:rPr lang="en-US" sz="2400" dirty="0">
                <a:solidFill>
                  <a:srgbClr val="FFFFFF"/>
                </a:solidFill>
                <a:latin typeface="Lato"/>
                <a:ea typeface="Lato"/>
                <a:cs typeface="Lato"/>
                <a:sym typeface="Bricolage Grotesque Medium"/>
              </a:rPr>
              <a:t>Evaluation Metrics, Assessed performance using industry-standard metrics: mAP@0.5, Precision, and Recall.</a:t>
            </a:r>
          </a:p>
        </p:txBody>
      </p:sp>
      <p:sp>
        <p:nvSpPr>
          <p:cNvPr id="2" name="TextBox 8">
            <a:extLst>
              <a:ext uri="{FF2B5EF4-FFF2-40B4-BE49-F238E27FC236}">
                <a16:creationId xmlns:a16="http://schemas.microsoft.com/office/drawing/2014/main" id="{D235DE6E-5AFD-D2E7-18A5-58074EF8EE92}"/>
              </a:ext>
            </a:extLst>
          </p:cNvPr>
          <p:cNvSpPr txBox="1"/>
          <p:nvPr/>
        </p:nvSpPr>
        <p:spPr>
          <a:xfrm>
            <a:off x="1054934" y="7480432"/>
            <a:ext cx="14721261" cy="2215991"/>
          </a:xfrm>
          <a:prstGeom prst="rect">
            <a:avLst/>
          </a:prstGeom>
        </p:spPr>
        <p:txBody>
          <a:bodyPr wrap="square" lIns="0" tIns="0" rIns="0" bIns="0" rtlCol="0" anchor="t">
            <a:spAutoFit/>
          </a:bodyPr>
          <a:lstStyle/>
          <a:p>
            <a:pPr>
              <a:spcBef>
                <a:spcPct val="0"/>
              </a:spcBef>
            </a:pPr>
            <a:r>
              <a:rPr lang="en-US" sz="2400" u="sng" dirty="0">
                <a:solidFill>
                  <a:srgbClr val="FFFFFF"/>
                </a:solidFill>
                <a:latin typeface="Lato"/>
                <a:ea typeface="Lato"/>
                <a:cs typeface="Lato"/>
                <a:sym typeface="Lato"/>
              </a:rPr>
              <a:t>Efforts:</a:t>
            </a:r>
          </a:p>
          <a:p>
            <a:pPr>
              <a:spcBef>
                <a:spcPct val="0"/>
              </a:spcBef>
            </a:pPr>
            <a:r>
              <a:rPr lang="en-US" sz="2400" dirty="0">
                <a:solidFill>
                  <a:srgbClr val="FFFFFF"/>
                </a:solidFill>
                <a:latin typeface="Lato"/>
                <a:ea typeface="Lato"/>
                <a:cs typeface="Lato"/>
                <a:sym typeface="Lato"/>
              </a:rPr>
              <a:t>Since we couldn't find a good dataset for bodycams, we created our own. We took high quality images of weapons, cleaned them manually, and added effects like Fisheye and Motion Blur to make them look like real body-cam footage.</a:t>
            </a:r>
          </a:p>
          <a:p>
            <a:pPr>
              <a:spcBef>
                <a:spcPct val="0"/>
              </a:spcBef>
            </a:pPr>
            <a:r>
              <a:rPr lang="en-US" sz="2400" dirty="0">
                <a:solidFill>
                  <a:srgbClr val="FFFFFF"/>
                </a:solidFill>
                <a:latin typeface="Lato"/>
                <a:ea typeface="Lato"/>
                <a:cs typeface="Lato"/>
                <a:sym typeface="Lato"/>
              </a:rPr>
              <a:t>We also used Image compositing to 'plant' weapons into new scenes to give the model more examples to learn from.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a:extLst>
            <a:ext uri="{FF2B5EF4-FFF2-40B4-BE49-F238E27FC236}">
              <a16:creationId xmlns:a16="http://schemas.microsoft.com/office/drawing/2014/main" id="{A6770CA5-9FE0-85B3-0722-A990A5B758C8}"/>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24645EC5-7906-A6FF-977D-92F7E1A9C67D}"/>
              </a:ext>
            </a:extLst>
          </p:cNvPr>
          <p:cNvSpPr txBox="1"/>
          <p:nvPr/>
        </p:nvSpPr>
        <p:spPr>
          <a:xfrm>
            <a:off x="1028700" y="1285875"/>
            <a:ext cx="7886700" cy="938206"/>
          </a:xfrm>
          <a:prstGeom prst="rect">
            <a:avLst/>
          </a:prstGeom>
        </p:spPr>
        <p:txBody>
          <a:bodyPr wrap="square" lIns="0" tIns="0" rIns="0" bIns="0" rtlCol="0" anchor="t">
            <a:spAutoFit/>
          </a:bodyPr>
          <a:lstStyle/>
          <a:p>
            <a:pPr algn="l">
              <a:lnSpc>
                <a:spcPts val="6800"/>
              </a:lnSpc>
            </a:pPr>
            <a:r>
              <a:rPr lang="en-US" sz="8000" b="1" spc="-453" dirty="0">
                <a:solidFill>
                  <a:srgbClr val="FFFFFF"/>
                </a:solidFill>
                <a:latin typeface="Aptos Black" panose="020F0502020204030204" pitchFamily="34" charset="0"/>
                <a:sym typeface="Bricolage Grotesque Medium"/>
              </a:rPr>
              <a:t>RESULTS</a:t>
            </a:r>
          </a:p>
        </p:txBody>
      </p:sp>
      <p:sp>
        <p:nvSpPr>
          <p:cNvPr id="2" name="TextBox 10">
            <a:extLst>
              <a:ext uri="{FF2B5EF4-FFF2-40B4-BE49-F238E27FC236}">
                <a16:creationId xmlns:a16="http://schemas.microsoft.com/office/drawing/2014/main" id="{5BBA46D8-B732-5305-2A9D-2004CA447428}"/>
              </a:ext>
            </a:extLst>
          </p:cNvPr>
          <p:cNvSpPr txBox="1"/>
          <p:nvPr/>
        </p:nvSpPr>
        <p:spPr>
          <a:xfrm>
            <a:off x="1371600" y="3054370"/>
            <a:ext cx="6187050" cy="1174681"/>
          </a:xfrm>
          <a:prstGeom prst="rect">
            <a:avLst/>
          </a:prstGeom>
        </p:spPr>
        <p:txBody>
          <a:bodyPr wrap="square" lIns="0" tIns="0" rIns="0" bIns="0" rtlCol="0" anchor="t">
            <a:spAutoFit/>
          </a:bodyPr>
          <a:lstStyle>
            <a:defPPr>
              <a:defRPr lang="en-US"/>
            </a:defPPr>
            <a:lvl1pPr>
              <a:lnSpc>
                <a:spcPts val="1699"/>
              </a:lnSpc>
              <a:defRPr sz="2000">
                <a:solidFill>
                  <a:srgbClr val="FFFFFF"/>
                </a:solidFill>
                <a:latin typeface="Lato"/>
                <a:ea typeface="Lato"/>
                <a:cs typeface="Lato"/>
              </a:defRPr>
            </a:lvl1pPr>
          </a:lstStyle>
          <a:p>
            <a:r>
              <a:rPr lang="en-US" sz="2800" b="1" dirty="0">
                <a:sym typeface="Bricolage Grotesque Medium"/>
              </a:rPr>
              <a:t>Before:</a:t>
            </a:r>
          </a:p>
          <a:p>
            <a:endParaRPr lang="en-US" sz="2800" b="1" dirty="0">
              <a:sym typeface="Bricolage Grotesque Medium"/>
            </a:endParaRPr>
          </a:p>
          <a:p>
            <a:pPr>
              <a:lnSpc>
                <a:spcPct val="100000"/>
              </a:lnSpc>
              <a:spcBef>
                <a:spcPct val="0"/>
              </a:spcBef>
            </a:pPr>
            <a:r>
              <a:rPr lang="en-US" sz="2400" dirty="0">
                <a:sym typeface="Bricolage Grotesque Medium"/>
              </a:rPr>
              <a:t>From interim presentation, training on 500 augmented images only.</a:t>
            </a:r>
          </a:p>
        </p:txBody>
      </p:sp>
      <p:graphicFrame>
        <p:nvGraphicFramePr>
          <p:cNvPr id="5" name="טבלה 4">
            <a:extLst>
              <a:ext uri="{FF2B5EF4-FFF2-40B4-BE49-F238E27FC236}">
                <a16:creationId xmlns:a16="http://schemas.microsoft.com/office/drawing/2014/main" id="{195085AD-2078-B9F1-CB5C-B9F3575B2B0B}"/>
              </a:ext>
            </a:extLst>
          </p:cNvPr>
          <p:cNvGraphicFramePr>
            <a:graphicFrameLocks noGrp="1"/>
          </p:cNvGraphicFramePr>
          <p:nvPr>
            <p:extLst>
              <p:ext uri="{D42A27DB-BD31-4B8C-83A1-F6EECF244321}">
                <p14:modId xmlns:p14="http://schemas.microsoft.com/office/powerpoint/2010/main" val="732843874"/>
              </p:ext>
            </p:extLst>
          </p:nvPr>
        </p:nvGraphicFramePr>
        <p:xfrm>
          <a:off x="1387929" y="5143500"/>
          <a:ext cx="6187050" cy="2810171"/>
        </p:xfrm>
        <a:graphic>
          <a:graphicData uri="http://schemas.openxmlformats.org/drawingml/2006/table">
            <a:tbl>
              <a:tblPr/>
              <a:tblGrid>
                <a:gridCol w="3115539">
                  <a:extLst>
                    <a:ext uri="{9D8B030D-6E8A-4147-A177-3AD203B41FA5}">
                      <a16:colId xmlns:a16="http://schemas.microsoft.com/office/drawing/2014/main" val="3753067812"/>
                    </a:ext>
                  </a:extLst>
                </a:gridCol>
                <a:gridCol w="3071511">
                  <a:extLst>
                    <a:ext uri="{9D8B030D-6E8A-4147-A177-3AD203B41FA5}">
                      <a16:colId xmlns:a16="http://schemas.microsoft.com/office/drawing/2014/main" val="4094480692"/>
                    </a:ext>
                  </a:extLst>
                </a:gridCol>
              </a:tblGrid>
              <a:tr h="1043403">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sym typeface="Lato Bold"/>
                        </a:rPr>
                        <a:t>Metric</a:t>
                      </a:r>
                      <a:endParaRPr lang="en-US" sz="2000" kern="1200" dirty="0">
                        <a:solidFill>
                          <a:srgbClr val="FFFFFF"/>
                        </a:solidFill>
                        <a:latin typeface="Lato"/>
                        <a:ea typeface="Lato"/>
                        <a:cs typeface="Lato"/>
                      </a:endParaRP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23432"/>
                    </a:solidFill>
                  </a:tcPr>
                </a:tc>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sym typeface="Lato Bold"/>
                        </a:rPr>
                        <a:t>Value</a:t>
                      </a:r>
                      <a:endParaRPr lang="en-US" sz="2000" kern="1200" dirty="0">
                        <a:solidFill>
                          <a:srgbClr val="FFFFFF"/>
                        </a:solidFill>
                        <a:latin typeface="Lato"/>
                        <a:ea typeface="Lato"/>
                        <a:cs typeface="Lato"/>
                      </a:endParaRP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23432"/>
                    </a:solidFill>
                  </a:tcPr>
                </a:tc>
                <a:extLst>
                  <a:ext uri="{0D108BD9-81ED-4DB2-BD59-A6C34878D82A}">
                    <a16:rowId xmlns:a16="http://schemas.microsoft.com/office/drawing/2014/main" val="3742014736"/>
                  </a:ext>
                </a:extLst>
              </a:tr>
              <a:tr h="441692">
                <a:tc>
                  <a:txBody>
                    <a:bodyPr/>
                    <a:lstStyle/>
                    <a:p>
                      <a:pPr rtl="0" fontAlgn="b">
                        <a:buNone/>
                      </a:pPr>
                      <a:r>
                        <a:rPr lang="en-US" sz="2000" kern="1200" dirty="0">
                          <a:solidFill>
                            <a:srgbClr val="FFFFFF"/>
                          </a:solidFill>
                          <a:latin typeface="Lato"/>
                          <a:ea typeface="Lato"/>
                          <a:cs typeface="Lato"/>
                        </a:rPr>
                        <a:t>mAP50</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rtl="0" fontAlgn="b">
                        <a:buNone/>
                      </a:pPr>
                      <a:r>
                        <a:rPr lang="he-IL" sz="2000" kern="1200" dirty="0">
                          <a:solidFill>
                            <a:srgbClr val="FFFFFF"/>
                          </a:solidFill>
                          <a:latin typeface="Lato"/>
                          <a:ea typeface="Lato"/>
                          <a:cs typeface="+mn-cs"/>
                        </a:rPr>
                        <a:t>0.532 (53.2%)</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326791471"/>
                  </a:ext>
                </a:extLst>
              </a:tr>
              <a:tr h="441692">
                <a:tc>
                  <a:txBody>
                    <a:bodyPr/>
                    <a:lstStyle/>
                    <a:p>
                      <a:pPr rtl="0" fontAlgn="b">
                        <a:buNone/>
                      </a:pPr>
                      <a:r>
                        <a:rPr lang="en-US" sz="2000" kern="1200" dirty="0">
                          <a:solidFill>
                            <a:srgbClr val="FFFFFF"/>
                          </a:solidFill>
                          <a:latin typeface="Lato"/>
                          <a:ea typeface="Lato"/>
                          <a:cs typeface="Lato"/>
                        </a:rPr>
                        <a:t>Precision</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rtl="0" fontAlgn="b">
                        <a:buNone/>
                      </a:pPr>
                      <a:r>
                        <a:rPr lang="he-IL" sz="2000" kern="1200" dirty="0">
                          <a:solidFill>
                            <a:srgbClr val="FFFFFF"/>
                          </a:solidFill>
                          <a:latin typeface="Lato"/>
                          <a:ea typeface="Lato"/>
                          <a:cs typeface="+mn-cs"/>
                        </a:rPr>
                        <a:t>0.692 (69.2%)</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57019108"/>
                  </a:ext>
                </a:extLst>
              </a:tr>
              <a:tr h="441692">
                <a:tc>
                  <a:txBody>
                    <a:bodyPr/>
                    <a:lstStyle/>
                    <a:p>
                      <a:pPr rtl="0" fontAlgn="b">
                        <a:buNone/>
                      </a:pPr>
                      <a:r>
                        <a:rPr lang="en-US" sz="2000" kern="1200">
                          <a:solidFill>
                            <a:srgbClr val="FFFFFF"/>
                          </a:solidFill>
                          <a:latin typeface="Lato"/>
                          <a:ea typeface="Lato"/>
                          <a:cs typeface="Lato"/>
                        </a:rPr>
                        <a:t>Recall</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rtl="0" fontAlgn="b">
                        <a:buNone/>
                      </a:pPr>
                      <a:r>
                        <a:rPr lang="he-IL" sz="2000" kern="1200" dirty="0">
                          <a:solidFill>
                            <a:srgbClr val="FFFFFF"/>
                          </a:solidFill>
                          <a:latin typeface="Lato"/>
                          <a:ea typeface="Lato"/>
                          <a:cs typeface="+mn-cs"/>
                        </a:rPr>
                        <a:t>0.508 (50.8%)</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950540596"/>
                  </a:ext>
                </a:extLst>
              </a:tr>
              <a:tr h="441692">
                <a:tc>
                  <a:txBody>
                    <a:bodyPr/>
                    <a:lstStyle/>
                    <a:p>
                      <a:pPr rtl="0" fontAlgn="b">
                        <a:buNone/>
                      </a:pPr>
                      <a:r>
                        <a:rPr lang="en-US" sz="2000" kern="1200" dirty="0">
                          <a:solidFill>
                            <a:srgbClr val="FFFFFF"/>
                          </a:solidFill>
                          <a:latin typeface="Lato"/>
                          <a:ea typeface="Lato"/>
                          <a:cs typeface="Lato"/>
                        </a:rPr>
                        <a:t>Inference Speed</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rtl="0" fontAlgn="b">
                        <a:buNone/>
                      </a:pPr>
                      <a:r>
                        <a:rPr lang="en-US" sz="2000" kern="1200" dirty="0">
                          <a:solidFill>
                            <a:srgbClr val="FFFFFF"/>
                          </a:solidFill>
                          <a:latin typeface="Lato"/>
                          <a:ea typeface="Lato"/>
                          <a:cs typeface="Lato"/>
                        </a:rPr>
                        <a:t>5.4 </a:t>
                      </a:r>
                      <a:r>
                        <a:rPr lang="en-US" sz="2000" kern="1200" dirty="0" err="1">
                          <a:solidFill>
                            <a:srgbClr val="FFFFFF"/>
                          </a:solidFill>
                          <a:latin typeface="Lato"/>
                          <a:ea typeface="Lato"/>
                          <a:cs typeface="Lato"/>
                        </a:rPr>
                        <a:t>ms</a:t>
                      </a:r>
                      <a:r>
                        <a:rPr lang="en-US" sz="2000" kern="1200" dirty="0">
                          <a:solidFill>
                            <a:srgbClr val="FFFFFF"/>
                          </a:solidFill>
                          <a:latin typeface="Lato"/>
                          <a:ea typeface="Lato"/>
                          <a:cs typeface="Lato"/>
                        </a:rPr>
                        <a:t> per image (T4 GPU)</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817777395"/>
                  </a:ext>
                </a:extLst>
              </a:tr>
            </a:tbl>
          </a:graphicData>
        </a:graphic>
      </p:graphicFrame>
      <p:sp>
        <p:nvSpPr>
          <p:cNvPr id="7" name="TextBox 10">
            <a:extLst>
              <a:ext uri="{FF2B5EF4-FFF2-40B4-BE49-F238E27FC236}">
                <a16:creationId xmlns:a16="http://schemas.microsoft.com/office/drawing/2014/main" id="{9282A588-3F7A-6CD3-572B-192D1272FF18}"/>
              </a:ext>
            </a:extLst>
          </p:cNvPr>
          <p:cNvSpPr txBox="1"/>
          <p:nvPr/>
        </p:nvSpPr>
        <p:spPr>
          <a:xfrm>
            <a:off x="10107386" y="3054370"/>
            <a:ext cx="6809014" cy="1913344"/>
          </a:xfrm>
          <a:prstGeom prst="rect">
            <a:avLst/>
          </a:prstGeom>
        </p:spPr>
        <p:txBody>
          <a:bodyPr wrap="square" lIns="0" tIns="0" rIns="0" bIns="0" rtlCol="0" anchor="t">
            <a:spAutoFit/>
          </a:bodyPr>
          <a:lstStyle>
            <a:defPPr>
              <a:defRPr lang="en-US"/>
            </a:defPPr>
            <a:lvl1pPr>
              <a:lnSpc>
                <a:spcPts val="1699"/>
              </a:lnSpc>
              <a:defRPr sz="2000">
                <a:solidFill>
                  <a:srgbClr val="FFFFFF"/>
                </a:solidFill>
                <a:latin typeface="Lato"/>
                <a:ea typeface="Lato"/>
                <a:cs typeface="Lato"/>
              </a:defRPr>
            </a:lvl1pPr>
          </a:lstStyle>
          <a:p>
            <a:r>
              <a:rPr lang="en-US" sz="2800" b="1" dirty="0">
                <a:sym typeface="Bricolage Grotesque Medium"/>
              </a:rPr>
              <a:t>After:</a:t>
            </a:r>
          </a:p>
          <a:p>
            <a:endParaRPr lang="en-US" sz="2800" b="1" dirty="0">
              <a:sym typeface="Bricolage Grotesque Medium"/>
            </a:endParaRPr>
          </a:p>
          <a:p>
            <a:pPr>
              <a:lnSpc>
                <a:spcPct val="100000"/>
              </a:lnSpc>
            </a:pPr>
            <a:r>
              <a:rPr lang="en-US" sz="2400" dirty="0">
                <a:sym typeface="Bricolage Grotesque Medium"/>
              </a:rPr>
              <a:t>Improved dataset - contained augmented motion blur and image composition of weapons from bodycam shots (total of 15600 images).</a:t>
            </a:r>
          </a:p>
          <a:p>
            <a:pPr>
              <a:lnSpc>
                <a:spcPct val="100000"/>
              </a:lnSpc>
            </a:pPr>
            <a:r>
              <a:rPr lang="en-US" sz="2400" dirty="0">
                <a:sym typeface="Bricolage Grotesque Medium"/>
              </a:rPr>
              <a:t>The results are after 50 epochs.</a:t>
            </a:r>
          </a:p>
        </p:txBody>
      </p:sp>
      <p:graphicFrame>
        <p:nvGraphicFramePr>
          <p:cNvPr id="9" name="טבלה 8">
            <a:extLst>
              <a:ext uri="{FF2B5EF4-FFF2-40B4-BE49-F238E27FC236}">
                <a16:creationId xmlns:a16="http://schemas.microsoft.com/office/drawing/2014/main" id="{DC0402A8-2E11-C180-C35D-20510AB4C00F}"/>
              </a:ext>
            </a:extLst>
          </p:cNvPr>
          <p:cNvGraphicFramePr>
            <a:graphicFrameLocks noGrp="1"/>
          </p:cNvGraphicFramePr>
          <p:nvPr>
            <p:extLst>
              <p:ext uri="{D42A27DB-BD31-4B8C-83A1-F6EECF244321}">
                <p14:modId xmlns:p14="http://schemas.microsoft.com/office/powerpoint/2010/main" val="1293119565"/>
              </p:ext>
            </p:extLst>
          </p:nvPr>
        </p:nvGraphicFramePr>
        <p:xfrm>
          <a:off x="10112829" y="5143500"/>
          <a:ext cx="6187050" cy="2810171"/>
        </p:xfrm>
        <a:graphic>
          <a:graphicData uri="http://schemas.openxmlformats.org/drawingml/2006/table">
            <a:tbl>
              <a:tblPr/>
              <a:tblGrid>
                <a:gridCol w="3115539">
                  <a:extLst>
                    <a:ext uri="{9D8B030D-6E8A-4147-A177-3AD203B41FA5}">
                      <a16:colId xmlns:a16="http://schemas.microsoft.com/office/drawing/2014/main" val="487784876"/>
                    </a:ext>
                  </a:extLst>
                </a:gridCol>
                <a:gridCol w="3071511">
                  <a:extLst>
                    <a:ext uri="{9D8B030D-6E8A-4147-A177-3AD203B41FA5}">
                      <a16:colId xmlns:a16="http://schemas.microsoft.com/office/drawing/2014/main" val="3881935841"/>
                    </a:ext>
                  </a:extLst>
                </a:gridCol>
              </a:tblGrid>
              <a:tr h="1043403">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sym typeface="Lato Bold"/>
                        </a:rPr>
                        <a:t>Metric</a:t>
                      </a:r>
                      <a:endParaRPr lang="en-US" sz="2000" kern="1200" dirty="0">
                        <a:solidFill>
                          <a:srgbClr val="FFFFFF"/>
                        </a:solidFill>
                        <a:latin typeface="Lato"/>
                        <a:ea typeface="Lato"/>
                        <a:cs typeface="Lato"/>
                      </a:endParaRP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23432"/>
                    </a:solidFill>
                  </a:tcPr>
                </a:tc>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sym typeface="Lato Bold"/>
                        </a:rPr>
                        <a:t>Value</a:t>
                      </a:r>
                      <a:endParaRPr lang="en-US" sz="2000" kern="1200" dirty="0">
                        <a:solidFill>
                          <a:srgbClr val="FFFFFF"/>
                        </a:solidFill>
                        <a:latin typeface="Lato"/>
                        <a:ea typeface="Lato"/>
                        <a:cs typeface="Lato"/>
                      </a:endParaRP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23432"/>
                    </a:solidFill>
                  </a:tcPr>
                </a:tc>
                <a:extLst>
                  <a:ext uri="{0D108BD9-81ED-4DB2-BD59-A6C34878D82A}">
                    <a16:rowId xmlns:a16="http://schemas.microsoft.com/office/drawing/2014/main" val="4219447690"/>
                  </a:ext>
                </a:extLst>
              </a:tr>
              <a:tr h="441692">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rPr>
                        <a:t>mAP50</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algn="l" defTabSz="914400" rtl="0" eaLnBrk="1" fontAlgn="b" latinLnBrk="0" hangingPunct="1">
                        <a:lnSpc>
                          <a:spcPts val="2799"/>
                        </a:lnSpc>
                        <a:buNone/>
                        <a:defRPr/>
                      </a:pPr>
                      <a:r>
                        <a:rPr lang="he-IL" sz="2000" kern="1200" dirty="0">
                          <a:solidFill>
                            <a:srgbClr val="FFFFFF"/>
                          </a:solidFill>
                          <a:latin typeface="Lato"/>
                          <a:ea typeface="Lato"/>
                          <a:cs typeface="+mn-cs"/>
                        </a:rPr>
                        <a:t>0.979 (97.9%)</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53708639"/>
                  </a:ext>
                </a:extLst>
              </a:tr>
              <a:tr h="441692">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rPr>
                        <a:t>Precision</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algn="l" defTabSz="914400" rtl="0" eaLnBrk="1" fontAlgn="b" latinLnBrk="0" hangingPunct="1">
                        <a:lnSpc>
                          <a:spcPts val="2799"/>
                        </a:lnSpc>
                        <a:buNone/>
                        <a:defRPr/>
                      </a:pPr>
                      <a:r>
                        <a:rPr lang="he-IL" sz="2000" kern="1200" dirty="0">
                          <a:solidFill>
                            <a:srgbClr val="FFFFFF"/>
                          </a:solidFill>
                          <a:latin typeface="Lato"/>
                          <a:ea typeface="Lato"/>
                          <a:cs typeface="+mn-cs"/>
                        </a:rPr>
                        <a:t>0.962 (96.2%)</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887360562"/>
                  </a:ext>
                </a:extLst>
              </a:tr>
              <a:tr h="441692">
                <a:tc>
                  <a:txBody>
                    <a:bodyPr/>
                    <a:lstStyle/>
                    <a:p>
                      <a:pPr marL="0" algn="l" defTabSz="914400" rtl="0" eaLnBrk="1" fontAlgn="b" latinLnBrk="0" hangingPunct="1">
                        <a:lnSpc>
                          <a:spcPts val="2799"/>
                        </a:lnSpc>
                        <a:buNone/>
                        <a:defRPr/>
                      </a:pPr>
                      <a:r>
                        <a:rPr lang="en-US" sz="2000" kern="1200">
                          <a:solidFill>
                            <a:srgbClr val="FFFFFF"/>
                          </a:solidFill>
                          <a:latin typeface="Lato"/>
                          <a:ea typeface="Lato"/>
                          <a:cs typeface="Lato"/>
                        </a:rPr>
                        <a:t>Recall</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algn="l" defTabSz="914400" rtl="0" eaLnBrk="1" fontAlgn="b" latinLnBrk="0" hangingPunct="1">
                        <a:lnSpc>
                          <a:spcPts val="2799"/>
                        </a:lnSpc>
                        <a:buNone/>
                        <a:defRPr/>
                      </a:pPr>
                      <a:r>
                        <a:rPr lang="he-IL" sz="2000" kern="1200" dirty="0">
                          <a:solidFill>
                            <a:srgbClr val="FFFFFF"/>
                          </a:solidFill>
                          <a:latin typeface="Lato"/>
                          <a:ea typeface="Lato"/>
                          <a:cs typeface="+mn-cs"/>
                        </a:rPr>
                        <a:t>0.946 (94.6%)</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262232522"/>
                  </a:ext>
                </a:extLst>
              </a:tr>
              <a:tr h="441692">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rPr>
                        <a:t>Inference Speed</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marL="0" algn="l" defTabSz="914400" rtl="0" eaLnBrk="1" fontAlgn="b" latinLnBrk="0" hangingPunct="1">
                        <a:lnSpc>
                          <a:spcPts val="2799"/>
                        </a:lnSpc>
                        <a:buNone/>
                        <a:defRPr/>
                      </a:pPr>
                      <a:r>
                        <a:rPr lang="en-US" sz="2000" kern="1200" dirty="0">
                          <a:solidFill>
                            <a:srgbClr val="FFFFFF"/>
                          </a:solidFill>
                          <a:latin typeface="Lato"/>
                          <a:ea typeface="Lato"/>
                          <a:cs typeface="Lato"/>
                        </a:rPr>
                        <a:t>4.5 </a:t>
                      </a:r>
                      <a:r>
                        <a:rPr lang="en-US" sz="2000" kern="1200" dirty="0" err="1">
                          <a:solidFill>
                            <a:srgbClr val="FFFFFF"/>
                          </a:solidFill>
                          <a:latin typeface="Lato"/>
                          <a:ea typeface="Lato"/>
                          <a:cs typeface="Lato"/>
                        </a:rPr>
                        <a:t>ms</a:t>
                      </a:r>
                      <a:r>
                        <a:rPr lang="en-US" sz="2000" kern="1200" dirty="0">
                          <a:solidFill>
                            <a:srgbClr val="FFFFFF"/>
                          </a:solidFill>
                          <a:latin typeface="Lato"/>
                          <a:ea typeface="Lato"/>
                          <a:cs typeface="Lato"/>
                        </a:rPr>
                        <a:t> per image (T4 GPU)</a:t>
                      </a:r>
                    </a:p>
                  </a:txBody>
                  <a:tcPr marL="19050" marR="19050" marT="12700" marB="12700" anchor="b">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15361951"/>
                  </a:ext>
                </a:extLst>
              </a:tr>
            </a:tbl>
          </a:graphicData>
        </a:graphic>
      </p:graphicFrame>
    </p:spTree>
    <p:extLst>
      <p:ext uri="{BB962C8B-B14F-4D97-AF65-F5344CB8AC3E}">
        <p14:creationId xmlns:p14="http://schemas.microsoft.com/office/powerpoint/2010/main" val="2056586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a:extLst>
            <a:ext uri="{FF2B5EF4-FFF2-40B4-BE49-F238E27FC236}">
              <a16:creationId xmlns:a16="http://schemas.microsoft.com/office/drawing/2014/main" id="{36AA7931-A8EF-0108-E155-FC52AC40F001}"/>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F647AB14-A2E6-96E1-F058-3C1E20257F82}"/>
              </a:ext>
            </a:extLst>
          </p:cNvPr>
          <p:cNvSpPr txBox="1"/>
          <p:nvPr/>
        </p:nvSpPr>
        <p:spPr>
          <a:xfrm>
            <a:off x="1028700" y="1285875"/>
            <a:ext cx="7886700" cy="938206"/>
          </a:xfrm>
          <a:prstGeom prst="rect">
            <a:avLst/>
          </a:prstGeom>
        </p:spPr>
        <p:txBody>
          <a:bodyPr wrap="square" lIns="0" tIns="0" rIns="0" bIns="0" rtlCol="0" anchor="t">
            <a:spAutoFit/>
          </a:bodyPr>
          <a:lstStyle/>
          <a:p>
            <a:pPr algn="l">
              <a:lnSpc>
                <a:spcPts val="6800"/>
              </a:lnSpc>
            </a:pPr>
            <a:r>
              <a:rPr lang="en-US" sz="8000" b="1" spc="-453" dirty="0">
                <a:solidFill>
                  <a:srgbClr val="FFFFFF"/>
                </a:solidFill>
                <a:latin typeface="Aptos Black" panose="020F0502020204030204" pitchFamily="34" charset="0"/>
                <a:sym typeface="Bricolage Grotesque Medium"/>
              </a:rPr>
              <a:t>RESULTS</a:t>
            </a:r>
          </a:p>
        </p:txBody>
      </p:sp>
      <p:pic>
        <p:nvPicPr>
          <p:cNvPr id="6" name="תמונה 5" descr="תמונה שמכילה טקסט, תרשים, קו, עלילה&#10;&#10;תוכן בינה מלאכותית גנרטיבית עשוי להיות שגוי.">
            <a:extLst>
              <a:ext uri="{FF2B5EF4-FFF2-40B4-BE49-F238E27FC236}">
                <a16:creationId xmlns:a16="http://schemas.microsoft.com/office/drawing/2014/main" id="{B90A04DB-777B-FC74-134A-9B2304689791}"/>
              </a:ext>
            </a:extLst>
          </p:cNvPr>
          <p:cNvPicPr>
            <a:picLocks noChangeAspect="1"/>
          </p:cNvPicPr>
          <p:nvPr/>
        </p:nvPicPr>
        <p:blipFill>
          <a:blip r:embed="rId2"/>
          <a:stretch>
            <a:fillRect/>
          </a:stretch>
        </p:blipFill>
        <p:spPr>
          <a:xfrm>
            <a:off x="32657" y="3461656"/>
            <a:ext cx="10831286" cy="5415643"/>
          </a:xfrm>
          <a:prstGeom prst="rect">
            <a:avLst/>
          </a:prstGeom>
        </p:spPr>
      </p:pic>
      <p:pic>
        <p:nvPicPr>
          <p:cNvPr id="13" name="תמונה 12" descr="תמונה שמכילה טקסט, צילום מסך, גופן, מספר&#10;&#10;תוכן בינה מלאכותית גנרטיבית עשוי להיות שגוי.">
            <a:extLst>
              <a:ext uri="{FF2B5EF4-FFF2-40B4-BE49-F238E27FC236}">
                <a16:creationId xmlns:a16="http://schemas.microsoft.com/office/drawing/2014/main" id="{31637913-A39C-A486-2044-473308D0F6E8}"/>
              </a:ext>
            </a:extLst>
          </p:cNvPr>
          <p:cNvPicPr>
            <a:picLocks noChangeAspect="1"/>
          </p:cNvPicPr>
          <p:nvPr/>
        </p:nvPicPr>
        <p:blipFill>
          <a:blip r:embed="rId3"/>
          <a:stretch>
            <a:fillRect/>
          </a:stretch>
        </p:blipFill>
        <p:spPr>
          <a:xfrm>
            <a:off x="10975356" y="3467100"/>
            <a:ext cx="7241887" cy="5410199"/>
          </a:xfrm>
          <a:prstGeom prst="rect">
            <a:avLst/>
          </a:prstGeom>
        </p:spPr>
      </p:pic>
    </p:spTree>
    <p:extLst>
      <p:ext uri="{BB962C8B-B14F-4D97-AF65-F5344CB8AC3E}">
        <p14:creationId xmlns:p14="http://schemas.microsoft.com/office/powerpoint/2010/main" val="1986845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a:extLst>
            <a:ext uri="{FF2B5EF4-FFF2-40B4-BE49-F238E27FC236}">
              <a16:creationId xmlns:a16="http://schemas.microsoft.com/office/drawing/2014/main" id="{FC82F438-CA89-7827-B868-6C4B9C77E886}"/>
            </a:ext>
          </a:extLst>
        </p:cNvPr>
        <p:cNvGrpSpPr/>
        <p:nvPr/>
      </p:nvGrpSpPr>
      <p:grpSpPr>
        <a:xfrm>
          <a:off x="0" y="0"/>
          <a:ext cx="0" cy="0"/>
          <a:chOff x="0" y="0"/>
          <a:chExt cx="0" cy="0"/>
        </a:xfrm>
      </p:grpSpPr>
      <p:sp>
        <p:nvSpPr>
          <p:cNvPr id="8" name="TextBox 8">
            <a:extLst>
              <a:ext uri="{FF2B5EF4-FFF2-40B4-BE49-F238E27FC236}">
                <a16:creationId xmlns:a16="http://schemas.microsoft.com/office/drawing/2014/main" id="{E4D7E17C-ACF8-EB37-7690-B3AD9EE598AB}"/>
              </a:ext>
            </a:extLst>
          </p:cNvPr>
          <p:cNvSpPr txBox="1"/>
          <p:nvPr/>
        </p:nvSpPr>
        <p:spPr>
          <a:xfrm>
            <a:off x="1028700" y="1285875"/>
            <a:ext cx="7886700" cy="938206"/>
          </a:xfrm>
          <a:prstGeom prst="rect">
            <a:avLst/>
          </a:prstGeom>
        </p:spPr>
        <p:txBody>
          <a:bodyPr wrap="square" lIns="0" tIns="0" rIns="0" bIns="0" rtlCol="0" anchor="t">
            <a:spAutoFit/>
          </a:bodyPr>
          <a:lstStyle/>
          <a:p>
            <a:pPr algn="l">
              <a:lnSpc>
                <a:spcPts val="6800"/>
              </a:lnSpc>
            </a:pPr>
            <a:r>
              <a:rPr lang="en-US" sz="8000" b="1" spc="-453" dirty="0">
                <a:solidFill>
                  <a:srgbClr val="FFFFFF"/>
                </a:solidFill>
                <a:latin typeface="Aptos Black" panose="020F0502020204030204" pitchFamily="34" charset="0"/>
                <a:sym typeface="Bricolage Grotesque Medium"/>
              </a:rPr>
              <a:t>RESULTS</a:t>
            </a:r>
          </a:p>
        </p:txBody>
      </p:sp>
      <p:pic>
        <p:nvPicPr>
          <p:cNvPr id="3" name="תמונה 2" descr="תמונה שמכילה צילום מסך, קולאז’, אדם, פסיפס&#10;&#10;תוכן בינה מלאכותית גנרטיבית עשוי להיות שגוי.">
            <a:extLst>
              <a:ext uri="{FF2B5EF4-FFF2-40B4-BE49-F238E27FC236}">
                <a16:creationId xmlns:a16="http://schemas.microsoft.com/office/drawing/2014/main" id="{4F089344-A332-8915-7879-E8B06F705909}"/>
              </a:ext>
            </a:extLst>
          </p:cNvPr>
          <p:cNvPicPr>
            <a:picLocks noChangeAspect="1"/>
          </p:cNvPicPr>
          <p:nvPr/>
        </p:nvPicPr>
        <p:blipFill>
          <a:blip r:embed="rId2"/>
          <a:stretch>
            <a:fillRect/>
          </a:stretch>
        </p:blipFill>
        <p:spPr>
          <a:xfrm>
            <a:off x="8915400" y="609600"/>
            <a:ext cx="9067800" cy="9067800"/>
          </a:xfrm>
          <a:prstGeom prst="rect">
            <a:avLst/>
          </a:prstGeom>
        </p:spPr>
      </p:pic>
      <p:sp>
        <p:nvSpPr>
          <p:cNvPr id="5" name="TextBox 10">
            <a:extLst>
              <a:ext uri="{FF2B5EF4-FFF2-40B4-BE49-F238E27FC236}">
                <a16:creationId xmlns:a16="http://schemas.microsoft.com/office/drawing/2014/main" id="{A53B51CC-64E9-8D1C-53E9-86D42C5F8D12}"/>
              </a:ext>
            </a:extLst>
          </p:cNvPr>
          <p:cNvSpPr txBox="1"/>
          <p:nvPr/>
        </p:nvSpPr>
        <p:spPr>
          <a:xfrm>
            <a:off x="1028700" y="2224081"/>
            <a:ext cx="6187050" cy="229037"/>
          </a:xfrm>
          <a:prstGeom prst="rect">
            <a:avLst/>
          </a:prstGeom>
        </p:spPr>
        <p:txBody>
          <a:bodyPr wrap="square" lIns="0" tIns="0" rIns="0" bIns="0" rtlCol="0" anchor="t">
            <a:spAutoFit/>
          </a:bodyPr>
          <a:lstStyle>
            <a:defPPr>
              <a:defRPr lang="en-US"/>
            </a:defPPr>
            <a:lvl1pPr>
              <a:lnSpc>
                <a:spcPts val="1699"/>
              </a:lnSpc>
              <a:defRPr sz="2000">
                <a:solidFill>
                  <a:srgbClr val="FFFFFF"/>
                </a:solidFill>
                <a:latin typeface="Lato"/>
                <a:ea typeface="Lato"/>
                <a:cs typeface="Lato"/>
              </a:defRPr>
            </a:lvl1pPr>
          </a:lstStyle>
          <a:p>
            <a:r>
              <a:rPr lang="en-US" sz="2400" b="1" dirty="0">
                <a:sym typeface="Bricolage Grotesque Medium"/>
              </a:rPr>
              <a:t>Unseen image:</a:t>
            </a:r>
          </a:p>
        </p:txBody>
      </p:sp>
      <p:sp>
        <p:nvSpPr>
          <p:cNvPr id="7" name="TextBox 10">
            <a:extLst>
              <a:ext uri="{FF2B5EF4-FFF2-40B4-BE49-F238E27FC236}">
                <a16:creationId xmlns:a16="http://schemas.microsoft.com/office/drawing/2014/main" id="{CCAC62DE-9E17-049F-1338-3D4DFFECF422}"/>
              </a:ext>
            </a:extLst>
          </p:cNvPr>
          <p:cNvSpPr txBox="1"/>
          <p:nvPr/>
        </p:nvSpPr>
        <p:spPr>
          <a:xfrm>
            <a:off x="1050471" y="5983265"/>
            <a:ext cx="6187050" cy="229037"/>
          </a:xfrm>
          <a:prstGeom prst="rect">
            <a:avLst/>
          </a:prstGeom>
        </p:spPr>
        <p:txBody>
          <a:bodyPr wrap="square" lIns="0" tIns="0" rIns="0" bIns="0" rtlCol="0" anchor="t">
            <a:spAutoFit/>
          </a:bodyPr>
          <a:lstStyle>
            <a:defPPr>
              <a:defRPr lang="en-US"/>
            </a:defPPr>
            <a:lvl1pPr>
              <a:lnSpc>
                <a:spcPts val="1699"/>
              </a:lnSpc>
              <a:defRPr sz="2000">
                <a:solidFill>
                  <a:srgbClr val="FFFFFF"/>
                </a:solidFill>
                <a:latin typeface="Lato"/>
                <a:ea typeface="Lato"/>
                <a:cs typeface="Lato"/>
              </a:defRPr>
            </a:lvl1pPr>
          </a:lstStyle>
          <a:p>
            <a:r>
              <a:rPr lang="en-US" sz="2400" b="1" dirty="0">
                <a:sym typeface="Bricolage Grotesque Medium"/>
              </a:rPr>
              <a:t>Result:</a:t>
            </a:r>
          </a:p>
        </p:txBody>
      </p:sp>
      <p:pic>
        <p:nvPicPr>
          <p:cNvPr id="15" name="תמונה 14">
            <a:extLst>
              <a:ext uri="{FF2B5EF4-FFF2-40B4-BE49-F238E27FC236}">
                <a16:creationId xmlns:a16="http://schemas.microsoft.com/office/drawing/2014/main" id="{84A4B89B-D4EF-C53A-8424-9B1394BFE623}"/>
              </a:ext>
            </a:extLst>
          </p:cNvPr>
          <p:cNvPicPr>
            <a:picLocks noChangeAspect="1"/>
          </p:cNvPicPr>
          <p:nvPr/>
        </p:nvPicPr>
        <p:blipFill>
          <a:blip r:embed="rId3"/>
          <a:srcRect l="10000" r="9499"/>
          <a:stretch>
            <a:fillRect/>
          </a:stretch>
        </p:blipFill>
        <p:spPr>
          <a:xfrm>
            <a:off x="1017814" y="2580666"/>
            <a:ext cx="5502729" cy="3157233"/>
          </a:xfrm>
          <a:prstGeom prst="rect">
            <a:avLst/>
          </a:prstGeom>
        </p:spPr>
      </p:pic>
      <p:pic>
        <p:nvPicPr>
          <p:cNvPr id="17" name="תמונה 16" descr="תמונה שמכילה טקסט, צילום מסך&#10;&#10;תוכן בינה מלאכותית גנרטיבית עשוי להיות שגוי.">
            <a:extLst>
              <a:ext uri="{FF2B5EF4-FFF2-40B4-BE49-F238E27FC236}">
                <a16:creationId xmlns:a16="http://schemas.microsoft.com/office/drawing/2014/main" id="{DDFCECBD-0159-B948-535A-2305C8553587}"/>
              </a:ext>
            </a:extLst>
          </p:cNvPr>
          <p:cNvPicPr>
            <a:picLocks noChangeAspect="1"/>
          </p:cNvPicPr>
          <p:nvPr/>
        </p:nvPicPr>
        <p:blipFill>
          <a:blip r:embed="rId4"/>
          <a:srcRect l="10842" t="11109" r="11684" b="6025"/>
          <a:stretch>
            <a:fillRect/>
          </a:stretch>
        </p:blipFill>
        <p:spPr>
          <a:xfrm>
            <a:off x="1050471" y="6248996"/>
            <a:ext cx="7010401" cy="3733376"/>
          </a:xfrm>
          <a:prstGeom prst="rect">
            <a:avLst/>
          </a:prstGeom>
        </p:spPr>
      </p:pic>
    </p:spTree>
    <p:extLst>
      <p:ext uri="{BB962C8B-B14F-4D97-AF65-F5344CB8AC3E}">
        <p14:creationId xmlns:p14="http://schemas.microsoft.com/office/powerpoint/2010/main" val="2271051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AutoShape 2"/>
          <p:cNvSpPr/>
          <p:nvPr/>
        </p:nvSpPr>
        <p:spPr>
          <a:xfrm flipV="1">
            <a:off x="890678" y="2224081"/>
            <a:ext cx="16230600" cy="0"/>
          </a:xfrm>
          <a:prstGeom prst="line">
            <a:avLst/>
          </a:prstGeom>
          <a:ln w="9525" cap="flat">
            <a:solidFill>
              <a:srgbClr val="FFFFFF"/>
            </a:solidFill>
            <a:prstDash val="solid"/>
            <a:headEnd type="none" w="sm" len="sm"/>
            <a:tailEnd type="none" w="sm" len="sm"/>
          </a:ln>
        </p:spPr>
        <p:txBody>
          <a:bodyPr/>
          <a:lstStyle/>
          <a:p>
            <a:endParaRPr lang="he-IL"/>
          </a:p>
        </p:txBody>
      </p:sp>
      <p:sp>
        <p:nvSpPr>
          <p:cNvPr id="6" name="TextBox 6"/>
          <p:cNvSpPr txBox="1"/>
          <p:nvPr/>
        </p:nvSpPr>
        <p:spPr>
          <a:xfrm>
            <a:off x="1028700" y="1285875"/>
            <a:ext cx="7615845" cy="938206"/>
          </a:xfrm>
          <a:prstGeom prst="rect">
            <a:avLst/>
          </a:prstGeom>
        </p:spPr>
        <p:txBody>
          <a:bodyPr lIns="0" tIns="0" rIns="0" bIns="0" rtlCol="0" anchor="t">
            <a:spAutoFit/>
          </a:bodyPr>
          <a:lstStyle/>
          <a:p>
            <a:pPr algn="l">
              <a:lnSpc>
                <a:spcPts val="6800"/>
              </a:lnSpc>
            </a:pPr>
            <a:r>
              <a:rPr lang="en-US" sz="8000" b="1" spc="-453" dirty="0">
                <a:solidFill>
                  <a:srgbClr val="FFFFFF"/>
                </a:solidFill>
                <a:latin typeface="Aptos Black" panose="020F0502020204030204" pitchFamily="34" charset="0"/>
                <a:sym typeface="Bricolage Grotesque Medium"/>
              </a:rPr>
              <a:t>CONCLUSION</a:t>
            </a:r>
          </a:p>
        </p:txBody>
      </p:sp>
      <p:sp>
        <p:nvSpPr>
          <p:cNvPr id="8" name="Freeform 6">
            <a:extLst>
              <a:ext uri="{FF2B5EF4-FFF2-40B4-BE49-F238E27FC236}">
                <a16:creationId xmlns:a16="http://schemas.microsoft.com/office/drawing/2014/main" id="{F5D7FC42-D9E8-68DE-34A9-11F835F62BC9}"/>
              </a:ext>
            </a:extLst>
          </p:cNvPr>
          <p:cNvSpPr/>
          <p:nvPr/>
        </p:nvSpPr>
        <p:spPr>
          <a:xfrm>
            <a:off x="762000" y="2891349"/>
            <a:ext cx="3575789" cy="6356958"/>
          </a:xfrm>
          <a:custGeom>
            <a:avLst/>
            <a:gdLst/>
            <a:ahLst/>
            <a:cxnLst/>
            <a:rect l="l" t="t" r="r" b="b"/>
            <a:pathLst>
              <a:path w="3575789" h="6356958">
                <a:moveTo>
                  <a:pt x="0" y="0"/>
                </a:moveTo>
                <a:lnTo>
                  <a:pt x="3575789" y="0"/>
                </a:lnTo>
                <a:lnTo>
                  <a:pt x="3575789" y="6356958"/>
                </a:lnTo>
                <a:lnTo>
                  <a:pt x="0" y="6356958"/>
                </a:lnTo>
                <a:lnTo>
                  <a:pt x="0" y="0"/>
                </a:lnTo>
                <a:close/>
              </a:path>
            </a:pathLst>
          </a:custGeom>
          <a:blipFill>
            <a:blip r:embed="rId2"/>
            <a:stretch>
              <a:fillRect/>
            </a:stretch>
          </a:blipFill>
        </p:spPr>
        <p:txBody>
          <a:bodyPr/>
          <a:lstStyle/>
          <a:p>
            <a:endParaRPr lang="he-IL"/>
          </a:p>
        </p:txBody>
      </p:sp>
      <p:sp>
        <p:nvSpPr>
          <p:cNvPr id="9" name="TextBox 8">
            <a:extLst>
              <a:ext uri="{FF2B5EF4-FFF2-40B4-BE49-F238E27FC236}">
                <a16:creationId xmlns:a16="http://schemas.microsoft.com/office/drawing/2014/main" id="{BFB779E7-D4A8-A921-8249-830967B0590D}"/>
              </a:ext>
            </a:extLst>
          </p:cNvPr>
          <p:cNvSpPr txBox="1"/>
          <p:nvPr/>
        </p:nvSpPr>
        <p:spPr>
          <a:xfrm>
            <a:off x="5029200" y="2628900"/>
            <a:ext cx="7477189" cy="5071004"/>
          </a:xfrm>
          <a:prstGeom prst="rect">
            <a:avLst/>
          </a:prstGeom>
        </p:spPr>
        <p:txBody>
          <a:bodyPr lIns="0" tIns="0" rIns="0" bIns="0" rtlCol="0" anchor="t">
            <a:spAutoFit/>
          </a:bodyPr>
          <a:lstStyle/>
          <a:p>
            <a:pPr marL="285750" indent="-285750">
              <a:spcBef>
                <a:spcPct val="0"/>
              </a:spcBef>
              <a:buFont typeface="Arial" panose="020B0604020202020204" pitchFamily="34" charset="0"/>
              <a:buChar char="•"/>
            </a:pPr>
            <a:r>
              <a:rPr lang="en-US" sz="2400" dirty="0">
                <a:solidFill>
                  <a:srgbClr val="FFFFFF"/>
                </a:solidFill>
                <a:latin typeface="Lato"/>
                <a:ea typeface="Lato"/>
                <a:cs typeface="Lato"/>
                <a:sym typeface="Lato"/>
              </a:rPr>
              <a:t>We did success to receive the results we wish for, new image outside the data get weapon detection from the model.</a:t>
            </a:r>
          </a:p>
          <a:p>
            <a:pPr marL="285750" indent="-285750">
              <a:spcBef>
                <a:spcPct val="0"/>
              </a:spcBef>
              <a:buFont typeface="Arial" panose="020B0604020202020204" pitchFamily="34" charset="0"/>
              <a:buChar char="•"/>
            </a:pPr>
            <a:endParaRPr lang="en-US" sz="2400" dirty="0">
              <a:solidFill>
                <a:srgbClr val="FFFFFF"/>
              </a:solidFill>
              <a:latin typeface="Lato"/>
              <a:ea typeface="Lato"/>
              <a:cs typeface="Lato"/>
              <a:sym typeface="Lato"/>
            </a:endParaRPr>
          </a:p>
          <a:p>
            <a:pPr marL="285750" indent="-285750">
              <a:spcBef>
                <a:spcPct val="0"/>
              </a:spcBef>
              <a:buFont typeface="Arial" panose="020B0604020202020204" pitchFamily="34" charset="0"/>
              <a:buChar char="•"/>
            </a:pPr>
            <a:r>
              <a:rPr lang="en-US" sz="2400" dirty="0">
                <a:solidFill>
                  <a:srgbClr val="FFFFFF"/>
                </a:solidFill>
                <a:latin typeface="Lato"/>
                <a:ea typeface="Lato"/>
                <a:cs typeface="Lato"/>
                <a:sym typeface="Lato"/>
              </a:rPr>
              <a:t> we learned from our project findings that Image Compositing is more effective than Stable Diffusion for unusual contexts, such as operating rooms or card games. This approach ensured higher data quality and more accurate labeling.</a:t>
            </a:r>
          </a:p>
          <a:p>
            <a:pPr marL="285750" indent="-285750">
              <a:spcBef>
                <a:spcPct val="0"/>
              </a:spcBef>
              <a:buFont typeface="Arial" panose="020B0604020202020204" pitchFamily="34" charset="0"/>
              <a:buChar char="•"/>
            </a:pPr>
            <a:endParaRPr lang="en-US" sz="2400" dirty="0">
              <a:solidFill>
                <a:srgbClr val="FFFFFF"/>
              </a:solidFill>
              <a:latin typeface="Lato"/>
              <a:ea typeface="Lato"/>
              <a:cs typeface="Lato"/>
              <a:sym typeface="Lato"/>
            </a:endParaRPr>
          </a:p>
          <a:p>
            <a:pPr marL="285750" indent="-285750">
              <a:spcBef>
                <a:spcPct val="0"/>
              </a:spcBef>
              <a:buFont typeface="Arial" panose="020B0604020202020204" pitchFamily="34" charset="0"/>
              <a:buChar char="•"/>
            </a:pPr>
            <a:r>
              <a:rPr lang="en-US" sz="2400" dirty="0">
                <a:solidFill>
                  <a:srgbClr val="FFFFFF"/>
                </a:solidFill>
                <a:latin typeface="Lato"/>
                <a:ea typeface="Lato"/>
                <a:cs typeface="Lato"/>
                <a:sym typeface="Lato"/>
              </a:rPr>
              <a:t>In the future we will want to improve the model for real time bodycam videos, not only from images like now.   </a:t>
            </a:r>
          </a:p>
          <a:p>
            <a:pPr>
              <a:lnSpc>
                <a:spcPts val="2100"/>
              </a:lnSpc>
              <a:spcBef>
                <a:spcPct val="0"/>
              </a:spcBef>
            </a:pPr>
            <a:endParaRPr lang="en-US" sz="2000" dirty="0">
              <a:solidFill>
                <a:schemeClr val="bg1"/>
              </a:solidFill>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12121"/>
        </a:solidFill>
        <a:effectLst/>
      </p:bgPr>
    </p:bg>
    <p:spTree>
      <p:nvGrpSpPr>
        <p:cNvPr id="1" name=""/>
        <p:cNvGrpSpPr/>
        <p:nvPr/>
      </p:nvGrpSpPr>
      <p:grpSpPr>
        <a:xfrm>
          <a:off x="0" y="0"/>
          <a:ext cx="0" cy="0"/>
          <a:chOff x="0" y="0"/>
          <a:chExt cx="0" cy="0"/>
        </a:xfrm>
      </p:grpSpPr>
      <p:sp>
        <p:nvSpPr>
          <p:cNvPr id="2" name="Freeform 2"/>
          <p:cNvSpPr/>
          <p:nvPr/>
        </p:nvSpPr>
        <p:spPr>
          <a:xfrm>
            <a:off x="13811700" y="5810700"/>
            <a:ext cx="3447600" cy="3447600"/>
          </a:xfrm>
          <a:custGeom>
            <a:avLst/>
            <a:gdLst/>
            <a:ahLst/>
            <a:cxnLst/>
            <a:rect l="l" t="t" r="r" b="b"/>
            <a:pathLst>
              <a:path w="3447600" h="3447600">
                <a:moveTo>
                  <a:pt x="0" y="0"/>
                </a:moveTo>
                <a:lnTo>
                  <a:pt x="3447600" y="0"/>
                </a:lnTo>
                <a:lnTo>
                  <a:pt x="3447600" y="3447600"/>
                </a:lnTo>
                <a:lnTo>
                  <a:pt x="0" y="34476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3" name="TextBox 3"/>
          <p:cNvSpPr txBox="1"/>
          <p:nvPr/>
        </p:nvSpPr>
        <p:spPr>
          <a:xfrm>
            <a:off x="4309129" y="4649788"/>
            <a:ext cx="9669743" cy="1256754"/>
          </a:xfrm>
          <a:prstGeom prst="rect">
            <a:avLst/>
          </a:prstGeom>
        </p:spPr>
        <p:txBody>
          <a:bodyPr lIns="0" tIns="0" rIns="0" bIns="0" rtlCol="0" anchor="t">
            <a:spAutoFit/>
          </a:bodyPr>
          <a:lstStyle/>
          <a:p>
            <a:pPr algn="ctr">
              <a:lnSpc>
                <a:spcPts val="9774"/>
              </a:lnSpc>
            </a:pPr>
            <a:r>
              <a:rPr lang="en-US" sz="8565" b="1" spc="-453" dirty="0">
                <a:solidFill>
                  <a:srgbClr val="FFFFFF"/>
                </a:solidFill>
                <a:latin typeface="Aptos Black" panose="020F0502020204030204" pitchFamily="34" charset="0"/>
                <a:sym typeface="Bricolage Grotesque Medium"/>
              </a:rPr>
              <a:t>THANK YOU</a:t>
            </a:r>
          </a:p>
        </p:txBody>
      </p:sp>
      <p:sp>
        <p:nvSpPr>
          <p:cNvPr id="4" name="Freeform 4"/>
          <p:cNvSpPr/>
          <p:nvPr/>
        </p:nvSpPr>
        <p:spPr>
          <a:xfrm flipH="1">
            <a:off x="1028700" y="5810700"/>
            <a:ext cx="3447600" cy="3447600"/>
          </a:xfrm>
          <a:custGeom>
            <a:avLst/>
            <a:gdLst/>
            <a:ahLst/>
            <a:cxnLst/>
            <a:rect l="l" t="t" r="r" b="b"/>
            <a:pathLst>
              <a:path w="3447600" h="3447600">
                <a:moveTo>
                  <a:pt x="3447600" y="0"/>
                </a:moveTo>
                <a:lnTo>
                  <a:pt x="0" y="0"/>
                </a:lnTo>
                <a:lnTo>
                  <a:pt x="0" y="3447600"/>
                </a:lnTo>
                <a:lnTo>
                  <a:pt x="3447600" y="3447600"/>
                </a:lnTo>
                <a:lnTo>
                  <a:pt x="344760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553</Words>
  <Application>Microsoft Office PowerPoint</Application>
  <PresentationFormat>מותאם אישית</PresentationFormat>
  <Paragraphs>81</Paragraphs>
  <Slides>10</Slides>
  <Notes>1</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10</vt:i4>
      </vt:variant>
    </vt:vector>
  </HeadingPairs>
  <TitlesOfParts>
    <vt:vector size="17" baseType="lpstr">
      <vt:lpstr>Lato</vt:lpstr>
      <vt:lpstr>Calibri</vt:lpstr>
      <vt:lpstr>Aptos Black</vt:lpstr>
      <vt:lpstr>Aptos</vt:lpstr>
      <vt:lpstr>Arial</vt:lpstr>
      <vt:lpstr>Bricolage Grotesque Medium</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Futuristic Modern Artificial Intelligence Presentation</dc:title>
  <cp:lastModifiedBy>חן גוליאן</cp:lastModifiedBy>
  <cp:revision>5</cp:revision>
  <dcterms:created xsi:type="dcterms:W3CDTF">2006-08-16T00:00:00Z</dcterms:created>
  <dcterms:modified xsi:type="dcterms:W3CDTF">2026-01-17T19:25:33Z</dcterms:modified>
  <dc:identifier>DAG-Nkq1BTA</dc:identifier>
</cp:coreProperties>
</file>