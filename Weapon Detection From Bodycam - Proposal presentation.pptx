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07553-36BE-93FA-1EBE-FA89CCC15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713433-386C-2310-6EAF-066FE1735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DB8CF-87CF-DC6C-DB52-97E1C30FC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4625-E171-4D9F-AEA9-12326EB0390E}" type="datetimeFigureOut">
              <a:rPr lang="en-IL" smtClean="0"/>
              <a:t>12/21/2025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CE960-E34E-B7F8-D1C6-3D6FA346B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C0975-D143-F8D5-67B9-B71D7D0FA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3EB5-F782-4337-9261-0E9163B942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37961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5D6B1-94D1-6CD1-2500-D7B813B42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0DA24-D34A-CBD5-74B6-3CFC7CA52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2D8B3-ADFD-4DBA-8395-6BB3C047D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4625-E171-4D9F-AEA9-12326EB0390E}" type="datetimeFigureOut">
              <a:rPr lang="en-IL" smtClean="0"/>
              <a:t>12/21/2025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7AC23-061E-702D-B873-C9D98A006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273EF-C77A-F145-EDD6-367AA24B5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3EB5-F782-4337-9261-0E9163B942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0440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CB410-BF4C-6B67-B8B4-F5532FFA1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9A628-5F77-A676-3F3E-69057AF70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7842B-0041-EE6C-0812-ECF6040E7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4625-E171-4D9F-AEA9-12326EB0390E}" type="datetimeFigureOut">
              <a:rPr lang="en-IL" smtClean="0"/>
              <a:t>12/21/2025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0CAF8-BAC8-B1B9-6900-F0910DC9A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2F610-CA41-0106-9874-A6307C916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3EB5-F782-4337-9261-0E9163B942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15702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F27EE-FEBD-DEB3-6E11-8121DC2BB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D38C2-849D-DB60-9E60-659D8A49AE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AF1509-7DE4-60F5-DD4D-DAED37F232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DBD52-82F6-066B-3E9F-6471A0638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4625-E171-4D9F-AEA9-12326EB0390E}" type="datetimeFigureOut">
              <a:rPr lang="en-IL" smtClean="0"/>
              <a:t>12/21/2025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AD8AB-96FC-ABE4-8845-674BEB952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31036-5EBA-6037-7314-0F096123A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3EB5-F782-4337-9261-0E9163B942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85431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62964-7F7B-B749-C8EF-1B2587FE3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8E254-5785-8F3D-13D0-D2809AF04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BB89B-1A0E-9D95-4B2B-369571371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44D067-E683-1DBD-089A-DE6ED298B7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116EF6-AE74-E3DD-F9CA-7D7BCFCD22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F96774-F80F-43B8-005D-93F6FA7E4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4625-E171-4D9F-AEA9-12326EB0390E}" type="datetimeFigureOut">
              <a:rPr lang="en-IL" smtClean="0"/>
              <a:t>12/21/2025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31D49E-8D37-54C6-A21E-7605BBFA5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EFCB78-9FBB-01F3-76E2-4DF635910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3EB5-F782-4337-9261-0E9163B942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70154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31179-3B0A-58A7-9F3C-5D9E0B489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BCA087-3738-DD0F-E3B9-6379FFC34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4625-E171-4D9F-AEA9-12326EB0390E}" type="datetimeFigureOut">
              <a:rPr lang="en-IL" smtClean="0"/>
              <a:t>12/21/2025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31FA1-3B44-816E-4CF8-051335F60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BB628D-B8E3-9C0D-04EE-EE9A21F8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3EB5-F782-4337-9261-0E9163B942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95062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34CE99-51D6-6206-0C06-35259AFDE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4625-E171-4D9F-AEA9-12326EB0390E}" type="datetimeFigureOut">
              <a:rPr lang="en-IL" smtClean="0"/>
              <a:t>12/21/2025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57E583-7663-816B-BFE7-C7E45843B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25E4B-6FE8-7CE6-4AC9-43C4C3F98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3EB5-F782-4337-9261-0E9163B942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81405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DD61D-BAFB-E5A7-C571-55B9B5B1E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EC8E-74EA-C393-C4DA-09DA023F4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3640B-52F9-F34E-7593-B0B4A7C7E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828DC-8D1C-1347-DEF9-8BAB2B427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4625-E171-4D9F-AEA9-12326EB0390E}" type="datetimeFigureOut">
              <a:rPr lang="en-IL" smtClean="0"/>
              <a:t>12/21/2025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6A4F1-8D8E-37A9-BC98-D2EAD95CA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D8E9A-380D-52B3-FC6B-BF0EA2D7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3EB5-F782-4337-9261-0E9163B942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65086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A61D1-B774-462E-43A1-CF9B69E8B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D6951B-1F83-1511-721C-AA844B001D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3B76B-0BC3-4631-8CA4-58223BFAA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59EFC-6772-D825-BCA9-A0C1EC928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4625-E171-4D9F-AEA9-12326EB0390E}" type="datetimeFigureOut">
              <a:rPr lang="en-IL" smtClean="0"/>
              <a:t>12/21/2025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775B1-0E3B-AE01-9D72-901C9B5BE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3F977-35B6-7677-4638-F271D6E0D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3EB5-F782-4337-9261-0E9163B942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64025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1D749-CD76-A57C-8D0C-1791A6870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B557E-9001-EB9C-B696-596631CE0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00FFB-BF23-01EC-EF6E-A11301D7C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4625-E171-4D9F-AEA9-12326EB0390E}" type="datetimeFigureOut">
              <a:rPr lang="en-IL" smtClean="0"/>
              <a:t>12/21/2025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422A4-F933-22CB-3741-3620594AB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04F3F-FB16-ECEA-3A70-668409458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3EB5-F782-4337-9261-0E9163B942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78415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504C56-5780-5445-FDC6-244BF1977A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FBEC66-9EEC-D2E1-700E-30F1AD8BD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D0A33-F6F4-F88A-0915-461B006A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4625-E171-4D9F-AEA9-12326EB0390E}" type="datetimeFigureOut">
              <a:rPr lang="en-IL" smtClean="0"/>
              <a:t>12/21/2025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A8D93-A4A4-1179-855A-88C0B616D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8830E-2B75-5FF4-50B0-5C6CE176D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3EB5-F782-4337-9261-0E9163B942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21155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4FEE13-4ADA-364E-D9C5-3C00BC95A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8C2D6-AC48-96D0-65F3-C8BE41D77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82A98-2793-C356-3824-6D9ED5212D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E4625-E171-4D9F-AEA9-12326EB0390E}" type="datetimeFigureOut">
              <a:rPr lang="en-IL" smtClean="0"/>
              <a:t>12/21/2025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05B27-1D10-FDB3-A176-51AE54D78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F5958-BAEF-A055-5BFB-1B450C75E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83EB5-F782-4337-9261-0E9163B942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67915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F7CB9-8E8C-A2A8-8029-40D53A3406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Weapon </a:t>
            </a:r>
            <a:r>
              <a:rPr lang="en-US"/>
              <a:t>Detection from </a:t>
            </a:r>
            <a:r>
              <a:rPr lang="en-US" dirty="0"/>
              <a:t>Body- Cam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A3F6F-87D4-C7C9-94D5-B0CDEB90FA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40177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8C75F-AD38-5738-8688-5B933E55C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3AF3F-3008-6B6C-ED28-A86E1433B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Detect weapons from body-worn cameras for military and public safety applications</a:t>
            </a:r>
          </a:p>
          <a:p>
            <a:pPr marL="0" indent="0" fontAlgn="base">
              <a:buNone/>
            </a:pPr>
            <a:endParaRPr lang="en-US" dirty="0"/>
          </a:p>
          <a:p>
            <a:pPr lvl="1" fontAlgn="base"/>
            <a:r>
              <a:rPr lang="en-US" dirty="0"/>
              <a:t>Real-time alerts during active operations</a:t>
            </a:r>
          </a:p>
          <a:p>
            <a:pPr marL="457200" lvl="1" indent="0" fontAlgn="base">
              <a:buNone/>
            </a:pPr>
            <a:endParaRPr lang="en-US" dirty="0"/>
          </a:p>
          <a:p>
            <a:pPr lvl="1" fontAlgn="base"/>
            <a:r>
              <a:rPr lang="en-US" dirty="0"/>
              <a:t>Enhanced situational awareness </a:t>
            </a:r>
          </a:p>
          <a:p>
            <a:pPr marL="457200" lvl="1" indent="0" fontAlgn="base">
              <a:buNone/>
            </a:pPr>
            <a:endParaRPr lang="en-US" dirty="0"/>
          </a:p>
          <a:p>
            <a:pPr lvl="1" fontAlgn="base"/>
            <a:r>
              <a:rPr lang="en-US" dirty="0"/>
              <a:t>Indexed recordings for efficient post-event analysis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5174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81A7A-5426-4045-88D1-1C1CE614A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136525"/>
            <a:ext cx="10515600" cy="1325563"/>
          </a:xfrm>
        </p:spPr>
        <p:txBody>
          <a:bodyPr/>
          <a:lstStyle/>
          <a:p>
            <a:r>
              <a:rPr lang="en-US" dirty="0"/>
              <a:t>Weapon detection: Novelty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E7AA6-8A28-0C59-DFD6-3C1E8F999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7" y="1620836"/>
            <a:ext cx="6562725" cy="46894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 surveillance footage and general  images</a:t>
            </a:r>
          </a:p>
          <a:p>
            <a:pPr lvl="1"/>
            <a:r>
              <a:rPr lang="en-US" dirty="0"/>
              <a:t>Many datasets exist (table)</a:t>
            </a:r>
          </a:p>
          <a:p>
            <a:endParaRPr lang="en-US" dirty="0"/>
          </a:p>
          <a:p>
            <a:r>
              <a:rPr lang="en-US" dirty="0"/>
              <a:t>In first-person video: new challenges</a:t>
            </a:r>
          </a:p>
          <a:p>
            <a:pPr lvl="1"/>
            <a:r>
              <a:rPr lang="en-US" dirty="0"/>
              <a:t>Strong motion blur from rapid body movement.</a:t>
            </a:r>
          </a:p>
          <a:p>
            <a:pPr lvl="1"/>
            <a:r>
              <a:rPr lang="en-US" dirty="0"/>
              <a:t>Extreme viewpoint changes and unusual angles</a:t>
            </a:r>
          </a:p>
          <a:p>
            <a:pPr lvl="1"/>
            <a:r>
              <a:rPr lang="en-US" dirty="0"/>
              <a:t>Very short and partial visibility of weapons</a:t>
            </a:r>
          </a:p>
          <a:p>
            <a:pPr lvl="1"/>
            <a:r>
              <a:rPr lang="en-US" dirty="0"/>
              <a:t>Highly dynamic, cluttered scenes</a:t>
            </a:r>
          </a:p>
          <a:p>
            <a:pPr lvl="1"/>
            <a:r>
              <a:rPr lang="en-US" dirty="0"/>
              <a:t>Rapidly changing lighting conditions</a:t>
            </a:r>
          </a:p>
          <a:p>
            <a:pPr lvl="1"/>
            <a:endParaRPr lang="en-US" dirty="0"/>
          </a:p>
          <a:p>
            <a:r>
              <a:rPr lang="en-US" dirty="0"/>
              <a:t>No labeled training/evaluation dataset exists for body-cam weapon detection</a:t>
            </a:r>
          </a:p>
          <a:p>
            <a:pPr lvl="1"/>
            <a:r>
              <a:rPr lang="en-US" dirty="0"/>
              <a:t>Create synthetically using Generative models</a:t>
            </a:r>
          </a:p>
          <a:p>
            <a:endParaRPr lang="en-I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B5B66F-0B3A-9FDA-3C76-389D533B3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962395"/>
              </p:ext>
            </p:extLst>
          </p:nvPr>
        </p:nvGraphicFramePr>
        <p:xfrm>
          <a:off x="7502255" y="216612"/>
          <a:ext cx="4470670" cy="4035153"/>
        </p:xfrm>
        <a:graphic>
          <a:graphicData uri="http://schemas.openxmlformats.org/drawingml/2006/table">
            <a:tbl>
              <a:tblPr/>
              <a:tblGrid>
                <a:gridCol w="2435243">
                  <a:extLst>
                    <a:ext uri="{9D8B030D-6E8A-4147-A177-3AD203B41FA5}">
                      <a16:colId xmlns:a16="http://schemas.microsoft.com/office/drawing/2014/main" val="1086972237"/>
                    </a:ext>
                  </a:extLst>
                </a:gridCol>
                <a:gridCol w="2035427">
                  <a:extLst>
                    <a:ext uri="{9D8B030D-6E8A-4147-A177-3AD203B41FA5}">
                      <a16:colId xmlns:a16="http://schemas.microsoft.com/office/drawing/2014/main" val="347742513"/>
                    </a:ext>
                  </a:extLst>
                </a:gridCol>
              </a:tblGrid>
              <a:tr h="159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Dataset</a:t>
                      </a:r>
                    </a:p>
                  </a:txBody>
                  <a:tcPr marL="35961" marR="35961" marT="17981" marB="17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Modality</a:t>
                      </a:r>
                    </a:p>
                  </a:txBody>
                  <a:tcPr marL="35961" marR="35961" marT="17981" marB="17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512225"/>
                  </a:ext>
                </a:extLst>
              </a:tr>
              <a:tr h="425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Weapon Detection CCTV v3</a:t>
                      </a:r>
                      <a:r>
                        <a:rPr lang="en-US" sz="1200" dirty="0"/>
                        <a:t> – CCTV-oriented images (weapon classes)</a:t>
                      </a:r>
                    </a:p>
                  </a:txBody>
                  <a:tcPr marL="35961" marR="35961" marT="17981" marB="17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Images / CCTV-style</a:t>
                      </a:r>
                    </a:p>
                  </a:txBody>
                  <a:tcPr marL="35961" marR="35961" marT="17981" marB="17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18021"/>
                  </a:ext>
                </a:extLst>
              </a:tr>
              <a:tr h="2926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Weapon Detection (Kaggle)</a:t>
                      </a:r>
                      <a:r>
                        <a:rPr lang="en-US" sz="1200"/>
                        <a:t> – multi-class weapons</a:t>
                      </a:r>
                    </a:p>
                  </a:txBody>
                  <a:tcPr marL="35961" marR="35961" marT="17981" marB="17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Images</a:t>
                      </a:r>
                    </a:p>
                  </a:txBody>
                  <a:tcPr marL="35961" marR="35961" marT="17981" marB="17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208198"/>
                  </a:ext>
                </a:extLst>
              </a:tr>
              <a:tr h="344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Weapon Detection (alternate Kaggle)</a:t>
                      </a:r>
                      <a:r>
                        <a:rPr lang="en-US" sz="1200"/>
                        <a:t> – general weapon images</a:t>
                      </a:r>
                    </a:p>
                  </a:txBody>
                  <a:tcPr marL="35961" marR="35961" marT="17981" marB="17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Images</a:t>
                      </a:r>
                    </a:p>
                  </a:txBody>
                  <a:tcPr marL="35961" marR="35961" marT="17981" marB="17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602333"/>
                  </a:ext>
                </a:extLst>
              </a:tr>
              <a:tr h="2926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Pistols Object Detection (</a:t>
                      </a:r>
                      <a:r>
                        <a:rPr lang="en-US" sz="1200" b="1" dirty="0" err="1"/>
                        <a:t>Roboflow</a:t>
                      </a:r>
                      <a:r>
                        <a:rPr lang="en-US" sz="1200" b="1" dirty="0"/>
                        <a:t>)</a:t>
                      </a:r>
                      <a:endParaRPr lang="en-US" sz="1200" dirty="0"/>
                    </a:p>
                  </a:txBody>
                  <a:tcPr marL="35961" marR="35961" marT="17981" marB="17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Images</a:t>
                      </a:r>
                    </a:p>
                  </a:txBody>
                  <a:tcPr marL="35961" marR="35961" marT="17981" marB="17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897945"/>
                  </a:ext>
                </a:extLst>
              </a:tr>
              <a:tr h="236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Weapons in Images Dataset</a:t>
                      </a:r>
                      <a:endParaRPr lang="en-US" sz="1200"/>
                    </a:p>
                  </a:txBody>
                  <a:tcPr marL="35961" marR="35961" marT="17981" marB="17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Images + some CCTV frames</a:t>
                      </a:r>
                    </a:p>
                  </a:txBody>
                  <a:tcPr marL="35961" marR="35961" marT="17981" marB="17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297451"/>
                  </a:ext>
                </a:extLst>
              </a:tr>
              <a:tr h="315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Gun/Kits Combined (CCTV-video oriented)</a:t>
                      </a:r>
                      <a:endParaRPr lang="en-US" sz="1200"/>
                    </a:p>
                  </a:txBody>
                  <a:tcPr marL="35961" marR="35961" marT="17981" marB="17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Video frames</a:t>
                      </a:r>
                    </a:p>
                  </a:txBody>
                  <a:tcPr marL="35961" marR="35961" marT="17981" marB="17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44640"/>
                  </a:ext>
                </a:extLst>
              </a:tr>
              <a:tr h="2926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UCF Crime (frames)</a:t>
                      </a:r>
                      <a:r>
                        <a:rPr lang="en-US" sz="1200"/>
                        <a:t> – general surveillance crime</a:t>
                      </a:r>
                    </a:p>
                  </a:txBody>
                  <a:tcPr marL="35961" marR="35961" marT="17981" marB="17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Video frames</a:t>
                      </a:r>
                    </a:p>
                  </a:txBody>
                  <a:tcPr marL="35961" marR="35961" marT="17981" marB="17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449906"/>
                  </a:ext>
                </a:extLst>
              </a:tr>
              <a:tr h="2926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Firearm-Action &amp; Detection (Mendeley)</a:t>
                      </a:r>
                      <a:endParaRPr lang="en-US" sz="1200"/>
                    </a:p>
                  </a:txBody>
                  <a:tcPr marL="35961" marR="35961" marT="17981" marB="17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Surveillance video</a:t>
                      </a:r>
                    </a:p>
                  </a:txBody>
                  <a:tcPr marL="35961" marR="35961" marT="17981" marB="17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599588"/>
                  </a:ext>
                </a:extLst>
              </a:tr>
              <a:tr h="425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Monash Gun / USRT / UCF subsets</a:t>
                      </a:r>
                      <a:r>
                        <a:rPr lang="en-US" sz="1200"/>
                        <a:t> (from GitHub repo example)</a:t>
                      </a:r>
                    </a:p>
                  </a:txBody>
                  <a:tcPr marL="35961" marR="35961" marT="17981" marB="17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Images (various)</a:t>
                      </a:r>
                    </a:p>
                  </a:txBody>
                  <a:tcPr marL="35961" marR="35961" marT="17981" marB="179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800491"/>
                  </a:ext>
                </a:extLst>
              </a:tr>
            </a:tbl>
          </a:graphicData>
        </a:graphic>
      </p:graphicFrame>
      <p:pic>
        <p:nvPicPr>
          <p:cNvPr id="7" name="Picture 6" descr="A person holding an object&#10;&#10;AI-generated content may be incorrect.">
            <a:extLst>
              <a:ext uri="{FF2B5EF4-FFF2-40B4-BE49-F238E27FC236}">
                <a16:creationId xmlns:a16="http://schemas.microsoft.com/office/drawing/2014/main" id="{7F882802-7F8E-6E96-5E31-F05992A3C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599" y="4501438"/>
            <a:ext cx="3209925" cy="213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48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24807-3411-239E-02D3-75B868A9A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 Requirements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F15F0-8CFA-45CC-FBD9-49BD843C0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Labeled realistic body-cam images</a:t>
            </a:r>
          </a:p>
          <a:p>
            <a:pPr lvl="1"/>
            <a:r>
              <a:rPr lang="en-US" dirty="0"/>
              <a:t>An image  and a bounding box(ground truth label) for object detection</a:t>
            </a:r>
          </a:p>
          <a:p>
            <a:pPr lvl="1"/>
            <a:endParaRPr lang="en-US" dirty="0"/>
          </a:p>
          <a:p>
            <a:r>
              <a:rPr lang="en-US" dirty="0"/>
              <a:t>Alternatives for Synthetic data generation</a:t>
            </a:r>
          </a:p>
          <a:p>
            <a:pPr lvl="1"/>
            <a:r>
              <a:rPr lang="en-US" b="1" dirty="0"/>
              <a:t>Augment existing dataset</a:t>
            </a:r>
            <a:r>
              <a:rPr lang="en-US" dirty="0"/>
              <a:t>: introduce distortions to existing surveillance images with already labeled weapons</a:t>
            </a:r>
          </a:p>
          <a:p>
            <a:pPr lvl="1"/>
            <a:r>
              <a:rPr lang="en-US" b="1" dirty="0"/>
              <a:t>Inpainting</a:t>
            </a:r>
            <a:r>
              <a:rPr lang="en-US" dirty="0"/>
              <a:t>: use existing FPV footage and in-paint weapons into target locations</a:t>
            </a:r>
          </a:p>
          <a:p>
            <a:pPr lvl="1"/>
            <a:r>
              <a:rPr lang="en-US" b="1" dirty="0"/>
              <a:t>Generating from scratch/distillation</a:t>
            </a:r>
            <a:r>
              <a:rPr lang="en-US" dirty="0"/>
              <a:t>: generate or augment body-cam images with a weapon, use a strong model (SAM) to label/detect weapons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19343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948BA-4FF9-6D95-8B24-F01FEAD52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Task Definition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500A1-E1BA-9108-F746-35A5A959B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Input</a:t>
            </a:r>
          </a:p>
          <a:p>
            <a:pPr lvl="1"/>
            <a:r>
              <a:rPr lang="en-US" dirty="0"/>
              <a:t>An image: a single frame from a body cam with appropriate resolution</a:t>
            </a:r>
          </a:p>
          <a:p>
            <a:pPr lvl="1"/>
            <a:r>
              <a:rPr lang="en-US" dirty="0"/>
              <a:t>Include realistic distortions: blur, partial occlusion, imperfect light, cluttered scene</a:t>
            </a:r>
          </a:p>
          <a:p>
            <a:pPr lvl="1"/>
            <a:endParaRPr lang="en-US" dirty="0"/>
          </a:p>
          <a:p>
            <a:r>
              <a:rPr lang="en-US" b="1" dirty="0"/>
              <a:t>Output</a:t>
            </a:r>
          </a:p>
          <a:p>
            <a:pPr lvl="1"/>
            <a:r>
              <a:rPr lang="en-US" dirty="0"/>
              <a:t>A list of bounding boxes for all weapons</a:t>
            </a:r>
          </a:p>
          <a:p>
            <a:pPr lvl="1"/>
            <a:r>
              <a:rPr lang="en-US" dirty="0"/>
              <a:t>Optionally, type of weapon (knife, handgun, etc.)</a:t>
            </a:r>
          </a:p>
          <a:p>
            <a:pPr lvl="1"/>
            <a:endParaRPr lang="en-US" dirty="0"/>
          </a:p>
          <a:p>
            <a:r>
              <a:rPr lang="en-US" b="1" dirty="0"/>
              <a:t>KPIs/Metrics</a:t>
            </a:r>
          </a:p>
          <a:p>
            <a:pPr lvl="1"/>
            <a:r>
              <a:rPr lang="en-US" dirty="0"/>
              <a:t>Object detection metrics: </a:t>
            </a:r>
            <a:r>
              <a:rPr lang="en-US" b="1" dirty="0"/>
              <a:t>mAP@0.5</a:t>
            </a:r>
            <a:r>
              <a:rPr lang="en-US" dirty="0"/>
              <a:t> and </a:t>
            </a:r>
            <a:r>
              <a:rPr lang="en-US" b="1" dirty="0"/>
              <a:t>mAP@0.5:0.95</a:t>
            </a:r>
            <a:endParaRPr lang="en-US" dirty="0"/>
          </a:p>
          <a:p>
            <a:pPr lvl="1"/>
            <a:r>
              <a:rPr lang="en-US" dirty="0"/>
              <a:t>Classification metrics:  accuracy</a:t>
            </a:r>
          </a:p>
          <a:p>
            <a:pPr lvl="1"/>
            <a:r>
              <a:rPr lang="en-US" dirty="0"/>
              <a:t>Mission-critical task: increase the importance of false negatives</a:t>
            </a:r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32725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E406-4039-4EDE-9800-6F71D522E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FBC6F-59C6-A723-0096-4AFA8955E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57925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Baseline</a:t>
            </a:r>
          </a:p>
          <a:p>
            <a:pPr lvl="1"/>
            <a:r>
              <a:rPr lang="en-US" dirty="0"/>
              <a:t>Pretrained object-detection models with “gun” or “knife” classes</a:t>
            </a:r>
          </a:p>
          <a:p>
            <a:pPr lvl="1"/>
            <a:r>
              <a:rPr lang="en-US" dirty="0"/>
              <a:t>Pretrained on surveillance or general images (</a:t>
            </a:r>
            <a:r>
              <a:rPr lang="en-US" b="1" dirty="0"/>
              <a:t>Open Images</a:t>
            </a:r>
            <a:r>
              <a:rPr lang="en-US" dirty="0"/>
              <a:t> (V6 / V7)</a:t>
            </a:r>
          </a:p>
          <a:p>
            <a:pPr lvl="1"/>
            <a:r>
              <a:rPr lang="en-US" dirty="0"/>
              <a:t> Lower bound of model performance</a:t>
            </a:r>
          </a:p>
          <a:p>
            <a:pPr lvl="1"/>
            <a:endParaRPr lang="en-US" dirty="0"/>
          </a:p>
          <a:p>
            <a:r>
              <a:rPr lang="en-US" dirty="0"/>
              <a:t>Fine-tuned models</a:t>
            </a:r>
          </a:p>
          <a:p>
            <a:pPr lvl="1"/>
            <a:r>
              <a:rPr lang="en-US" dirty="0"/>
              <a:t>Fine-tune using synthetic data</a:t>
            </a:r>
          </a:p>
          <a:p>
            <a:pPr lvl="1"/>
            <a:r>
              <a:rPr lang="en-US" dirty="0"/>
              <a:t>Several versions of YOLO</a:t>
            </a:r>
          </a:p>
          <a:p>
            <a:pPr lvl="1"/>
            <a:r>
              <a:rPr lang="en-US" dirty="0"/>
              <a:t>RT-DETR</a:t>
            </a:r>
          </a:p>
          <a:p>
            <a:pPr lvl="1"/>
            <a:endParaRPr lang="en-US" dirty="0"/>
          </a:p>
          <a:p>
            <a:r>
              <a:rPr lang="en-US" dirty="0"/>
              <a:t>As a gold standard</a:t>
            </a:r>
          </a:p>
          <a:p>
            <a:pPr lvl="1"/>
            <a:r>
              <a:rPr lang="en-US" dirty="0"/>
              <a:t>The best possible case, upper bound of model performance</a:t>
            </a:r>
          </a:p>
          <a:p>
            <a:pPr lvl="1"/>
            <a:r>
              <a:rPr lang="en-US" dirty="0"/>
              <a:t>SAM or Grounding Dino</a:t>
            </a:r>
          </a:p>
          <a:p>
            <a:pPr lvl="1"/>
            <a:r>
              <a:rPr lang="en-US" dirty="0"/>
              <a:t>Heavy model that can’t run in real-time over a mobile camera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I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F1019C-FC31-5A33-6042-9C6A53E95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51662"/>
              </p:ext>
            </p:extLst>
          </p:nvPr>
        </p:nvGraphicFramePr>
        <p:xfrm>
          <a:off x="7343775" y="2643716"/>
          <a:ext cx="4724400" cy="211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525">
                  <a:extLst>
                    <a:ext uri="{9D8B030D-6E8A-4147-A177-3AD203B41FA5}">
                      <a16:colId xmlns:a16="http://schemas.microsoft.com/office/drawing/2014/main" val="592123070"/>
                    </a:ext>
                  </a:extLst>
                </a:gridCol>
                <a:gridCol w="737235">
                  <a:extLst>
                    <a:ext uri="{9D8B030D-6E8A-4147-A177-3AD203B41FA5}">
                      <a16:colId xmlns:a16="http://schemas.microsoft.com/office/drawing/2014/main" val="2834047128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1378872432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3909678527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1339908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Model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mAP</a:t>
                      </a:r>
                      <a:endParaRPr lang="en-US" sz="1200" b="1" dirty="0"/>
                    </a:p>
                    <a:p>
                      <a:pPr algn="ctr"/>
                      <a:r>
                        <a:rPr lang="en-US" sz="1200" b="1" dirty="0"/>
                        <a:t>@0.5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mAP</a:t>
                      </a:r>
                      <a:endParaRPr lang="en-US" sz="1200" b="1" dirty="0"/>
                    </a:p>
                    <a:p>
                      <a:pPr algn="ctr"/>
                      <a:r>
                        <a:rPr lang="en-US" sz="1200" b="1" dirty="0"/>
                        <a:t>@0.5-0.95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Class Accuracy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False Negatives</a:t>
                      </a:r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520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YOLO OI (lower bound)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</a:t>
                      </a:r>
                      <a:endParaRPr kumimoji="0" lang="en-I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</a:t>
                      </a:r>
                      <a:endParaRPr kumimoji="0" lang="en-I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</a:t>
                      </a:r>
                      <a:endParaRPr kumimoji="0" lang="en-I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</a:t>
                      </a:r>
                      <a:endParaRPr kumimoji="0" lang="en-I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020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YOLO FT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</a:t>
                      </a:r>
                      <a:endParaRPr kumimoji="0" lang="en-I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</a:t>
                      </a:r>
                      <a:endParaRPr kumimoji="0" lang="en-I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</a:t>
                      </a:r>
                      <a:endParaRPr kumimoji="0" lang="en-I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</a:t>
                      </a:r>
                      <a:endParaRPr kumimoji="0" lang="en-I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828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DETR FT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</a:t>
                      </a:r>
                      <a:endParaRPr kumimoji="0" lang="en-I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</a:t>
                      </a:r>
                      <a:endParaRPr kumimoji="0" lang="en-I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</a:t>
                      </a:r>
                      <a:endParaRPr kumimoji="0" lang="en-I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</a:t>
                      </a:r>
                      <a:endParaRPr kumimoji="0" lang="en-I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68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SAM (upper bound)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</a:t>
                      </a:r>
                      <a:endParaRPr kumimoji="0" lang="en-I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</a:t>
                      </a:r>
                      <a:endParaRPr kumimoji="0" lang="en-I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</a:t>
                      </a:r>
                      <a:endParaRPr kumimoji="0" lang="en-I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xx</a:t>
                      </a:r>
                      <a:endParaRPr kumimoji="0" lang="en-IL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38463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DB0AAA-A07F-3956-0354-E580ACC57FB0}"/>
              </a:ext>
            </a:extLst>
          </p:cNvPr>
          <p:cNvSpPr txBox="1"/>
          <p:nvPr/>
        </p:nvSpPr>
        <p:spPr>
          <a:xfrm>
            <a:off x="8934450" y="4943475"/>
            <a:ext cx="2105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Expected Results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06672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472</Words>
  <Application>Microsoft Office PowerPoint</Application>
  <PresentationFormat>מסך רחב</PresentationFormat>
  <Paragraphs>107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Weapon Detection from Body- Cam</vt:lpstr>
      <vt:lpstr>Motivation</vt:lpstr>
      <vt:lpstr>Weapon detection: Novelty</vt:lpstr>
      <vt:lpstr>Datasets Requirements</vt:lpstr>
      <vt:lpstr>ML Task Definition</vt:lpstr>
      <vt:lpstr>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Apartsin</dc:creator>
  <cp:lastModifiedBy>חן גוליאן</cp:lastModifiedBy>
  <cp:revision>3</cp:revision>
  <dcterms:created xsi:type="dcterms:W3CDTF">2025-12-12T11:51:31Z</dcterms:created>
  <dcterms:modified xsi:type="dcterms:W3CDTF">2025-12-21T14:06:31Z</dcterms:modified>
</cp:coreProperties>
</file>